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1fafbb3d934dbb" /><Relationship Type="http://schemas.openxmlformats.org/officeDocument/2006/relationships/extended-properties" Target="/docProps/app.xml" Id="R367d9d63da594f4c" /><Relationship Type="http://schemas.openxmlformats.org/officeDocument/2006/relationships/officeDocument" Target="/ppt/presentation.xml" Id="R0b5a04906b044919" /></Relationships>
</file>

<file path=ppt/presentation.xml><?xml version="1.0" encoding="utf-8"?>
<p:presentation xmlns:p="http://schemas.openxmlformats.org/presentationml/2006/main">
  <p:sldMasterIdLst>
    <p:sldMasterId xmlns:r="http://schemas.openxmlformats.org/officeDocument/2006/relationships" id="2147483648" r:id="Rdea645e5f6474811"/>
  </p:sldMasterIdLst>
  <p:notesMasterIdLst>
    <p:notesMasterId xmlns:r="http://schemas.openxmlformats.org/officeDocument/2006/relationships" r:id="Rb243df9e9c004b4b"/>
  </p:notesMasterIdLst>
  <p:sldIdLst>
    <p:sldId xmlns:r="http://schemas.openxmlformats.org/officeDocument/2006/relationships" id="256" r:id="R558704a4d01143a9"/>
    <p:sldId xmlns:r="http://schemas.openxmlformats.org/officeDocument/2006/relationships" id="257" r:id="Rda67371115734086"/>
    <p:sldId xmlns:r="http://schemas.openxmlformats.org/officeDocument/2006/relationships" id="258" r:id="Ra869cb92ef1c43a0"/>
    <p:sldId xmlns:r="http://schemas.openxmlformats.org/officeDocument/2006/relationships" id="259" r:id="R9a2f25751b5f4e44"/>
    <p:sldId xmlns:r="http://schemas.openxmlformats.org/officeDocument/2006/relationships" id="260" r:id="R6be1930ce8e843b3"/>
    <p:sldId xmlns:r="http://schemas.openxmlformats.org/officeDocument/2006/relationships" id="261" r:id="R0abe379caa6047b0"/>
    <p:sldId xmlns:r="http://schemas.openxmlformats.org/officeDocument/2006/relationships" id="262" r:id="Re67fe14b31e8473f"/>
    <p:sldId xmlns:r="http://schemas.openxmlformats.org/officeDocument/2006/relationships" id="263" r:id="R6d16a5d9c145489e"/>
    <p:sldId xmlns:r="http://schemas.openxmlformats.org/officeDocument/2006/relationships" id="264" r:id="R7bc3b47c84c14705"/>
    <p:sldId xmlns:r="http://schemas.openxmlformats.org/officeDocument/2006/relationships" id="265" r:id="R1b25707818bc4bf2"/>
    <p:sldId xmlns:r="http://schemas.openxmlformats.org/officeDocument/2006/relationships" id="266" r:id="R5fccb0649ac843e7"/>
    <p:sldId xmlns:r="http://schemas.openxmlformats.org/officeDocument/2006/relationships" id="267" r:id="R2d826c249da6442b"/>
    <p:sldId xmlns:r="http://schemas.openxmlformats.org/officeDocument/2006/relationships" id="268" r:id="R9881de2ef1c1425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eec2190e2a40d7" /><Relationship Type="http://schemas.openxmlformats.org/officeDocument/2006/relationships/slideMaster" Target="/ppt/slideMasters/slideMaster1.xml" Id="Rdea645e5f6474811" /><Relationship Type="http://schemas.openxmlformats.org/officeDocument/2006/relationships/notesMaster" Target="/ppt/notesMasters/notesMaster1.xml" Id="Rb243df9e9c004b4b" /><Relationship Type="http://schemas.openxmlformats.org/officeDocument/2006/relationships/presProps" Target="/ppt/presProps.xml" Id="Raa156c2ce76444d9" /><Relationship Type="http://schemas.openxmlformats.org/officeDocument/2006/relationships/tableStyles" Target="/ppt/tableStyles.xml" Id="Rff004ff7e125422c" /><Relationship Type="http://schemas.openxmlformats.org/officeDocument/2006/relationships/slide" Target="/ppt/slides/slide1.xml" Id="R558704a4d01143a9" /><Relationship Type="http://schemas.openxmlformats.org/officeDocument/2006/relationships/slide" Target="/ppt/slides/slide2.xml" Id="Rda67371115734086" /><Relationship Type="http://schemas.openxmlformats.org/officeDocument/2006/relationships/slide" Target="/ppt/slides/slide3.xml" Id="Ra869cb92ef1c43a0" /><Relationship Type="http://schemas.openxmlformats.org/officeDocument/2006/relationships/slide" Target="/ppt/slides/slide4.xml" Id="R9a2f25751b5f4e44" /><Relationship Type="http://schemas.openxmlformats.org/officeDocument/2006/relationships/slide" Target="/ppt/slides/slide5.xml" Id="R6be1930ce8e843b3" /><Relationship Type="http://schemas.openxmlformats.org/officeDocument/2006/relationships/slide" Target="/ppt/slides/slide6.xml" Id="R0abe379caa6047b0" /><Relationship Type="http://schemas.openxmlformats.org/officeDocument/2006/relationships/slide" Target="/ppt/slides/slide7.xml" Id="Re67fe14b31e8473f" /><Relationship Type="http://schemas.openxmlformats.org/officeDocument/2006/relationships/slide" Target="/ppt/slides/slide8.xml" Id="R6d16a5d9c145489e" /><Relationship Type="http://schemas.openxmlformats.org/officeDocument/2006/relationships/slide" Target="/ppt/slides/slide9.xml" Id="R7bc3b47c84c14705" /><Relationship Type="http://schemas.openxmlformats.org/officeDocument/2006/relationships/slide" Target="/ppt/slides/slide10.xml" Id="R1b25707818bc4bf2" /><Relationship Type="http://schemas.openxmlformats.org/officeDocument/2006/relationships/slide" Target="/ppt/slides/slide11.xml" Id="R5fccb0649ac843e7" /><Relationship Type="http://schemas.openxmlformats.org/officeDocument/2006/relationships/slide" Target="/ppt/slides/slide12.xml" Id="R2d826c249da6442b" /><Relationship Type="http://schemas.openxmlformats.org/officeDocument/2006/relationships/slide" Target="/ppt/slides/slide13.xml" Id="R9881de2ef1c142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036a55d95f44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268745c60b495e" /><Relationship Type="http://schemas.openxmlformats.org/officeDocument/2006/relationships/notesMaster" Target="/ppt/notesMasters/notesMaster1.xml" Id="Rbb2ef1cd3d5749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065bde654a4471" /><Relationship Type="http://schemas.openxmlformats.org/officeDocument/2006/relationships/notesMaster" Target="/ppt/notesMasters/notesMaster1.xml" Id="R9cbcb037d22546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187b7da14544ba" /><Relationship Type="http://schemas.openxmlformats.org/officeDocument/2006/relationships/notesMaster" Target="/ppt/notesMasters/notesMaster1.xml" Id="Rb3d787e798034b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8769352e2443aa" /><Relationship Type="http://schemas.openxmlformats.org/officeDocument/2006/relationships/notesMaster" Target="/ppt/notesMasters/notesMaster1.xml" Id="R5d7f856bf7e84d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d4ef67b5324065" /><Relationship Type="http://schemas.openxmlformats.org/officeDocument/2006/relationships/notesMaster" Target="/ppt/notesMasters/notesMaster1.xml" Id="R29693e67e43e4a4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cc43d6fa3e94d4b" /><Relationship Type="http://schemas.openxmlformats.org/officeDocument/2006/relationships/notesMaster" Target="/ppt/notesMasters/notesMaster1.xml" Id="R669d0856906d48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8f88e894fc44d3" /><Relationship Type="http://schemas.openxmlformats.org/officeDocument/2006/relationships/notesMaster" Target="/ppt/notesMasters/notesMaster1.xml" Id="R578d5bfa64794f7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d446818e0b49f0" /><Relationship Type="http://schemas.openxmlformats.org/officeDocument/2006/relationships/notesMaster" Target="/ppt/notesMasters/notesMaster1.xml" Id="R28e638e1a97e45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336c254ff44203" /><Relationship Type="http://schemas.openxmlformats.org/officeDocument/2006/relationships/notesMaster" Target="/ppt/notesMasters/notesMaster1.xml" Id="R154dfc3c58ea44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c4b9c7523a4bae" /><Relationship Type="http://schemas.openxmlformats.org/officeDocument/2006/relationships/notesMaster" Target="/ppt/notesMasters/notesMaster1.xml" Id="R8d8e1552b576437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7074df8f264d6e" /><Relationship Type="http://schemas.openxmlformats.org/officeDocument/2006/relationships/notesMaster" Target="/ppt/notesMasters/notesMaster1.xml" Id="R4e0bcf54c14c42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92ec43062d4d6d" /><Relationship Type="http://schemas.openxmlformats.org/officeDocument/2006/relationships/notesMaster" Target="/ppt/notesMasters/notesMaster1.xml" Id="R8d925dc56a0a46c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cff70fc5c364c04" /><Relationship Type="http://schemas.openxmlformats.org/officeDocument/2006/relationships/notesMaster" Target="/ppt/notesMasters/notesMaster1.xml" Id="R6800e8fa593748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seconds. Introduce E23G20 and the clinical record problem. The full evaluation allows ten minutes including demonstration. Main talk target is seven minutes with approximately three minutes for the demo. Sources: user project brief and docs/data/index.json. Team roster is confirmed from the project, but individual contribution attribution needs team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the context from the supplied project brief: Department of Community Dental, Faculty of Dental Sciences, working with Dr. HSK Ratnatilake and her team. This is project context, not a claim of signed customer acceptance. Explain the users without inventing a patient portal.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All four requested functional areas exist in the implementation. Distinguish implemented features from clinical deployment acceptance. Sources: backend routes, shared field definitions, clinical workspace, reminder service, and docs/testing/results.md. SMS was removed at project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Walk through the seven examination topics and conditional choices. The image is from a mocked Playwright test using fictional records. Mention that clinical treatment revisions retain prior versions. Sources: code/shared/caseHistoryFields.json, code/frontend/src/ClinicalWorkspace.jsx, docs/testing/evidence/runs/2026-09-24T18-15-06-097Z-ui/case-history-check/1440-light.png.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Explain scheduler startup scan and default five-minute polling. A future eligible appointment within 24 hours can be processed. A late booking cannot provide a full day of notice. Assigned clinician and patient emails are separate delivery targets. Backend uptime and SMTP configuration are required. Sources: appointmentReminderService.js and emailService.js. Screenshot contains fictional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how each implementation choice addresses the problem without claiming benchmarks. PostgreSQL is the database and Prisma remains the ORM. Sources: prisma/schema.prisma, shared clinical field definitions, appointmentRoutes.js, appointmentReminderService.js.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These changes are traceable to requests in the project conversation. Do not describe them as direct clinician feedback unless dated meeting notes or messages support that attribution. The original paper form informed field organization. A verified customer-feedback artifact must be added before claiming customer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Public GitHub history retrieved from https://api.github.com/repos/cepdnaclk/e23-co2060-OrthoFlow/commits on 25 September 2026. Selected commit authors and messages demonstrate activity, not full ownership. Sources: https://github.com/cepdnaclk/e23-co2060-OrthoFlow/commit/4b0e22cba8ff0792f0ec0d18bd3a3b5922dc8189 ; https://github.com/cepdnaclk/e23-co2060-OrthoFlow/commit/209f707725648461fe17af29d1baa9c2ce886b80 ; https://github.com/cepdnaclk/e23-co2060-OrthoFlow/commit/1fe6edaf025d7a7f54392cedd1c4b1ad442da388 . Team-provided portfolio links: https://www.thecn.com/SU528 ; https://www.thecn.com/DT965 ; https://www.thecn.com/GM772 . Portfolio content could not be verified. The latest public commit returned was 06fd5f6, 3 May 2026; September local testing is separate evidence. Suggested speaking split: background, implementation, testing. Do not infer equal effort from commit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Explain layers and their limits. Unit tests mock Prisma and email. Browser tests intercept APIs and therefore do not prove end-to-end database behavior. API integration scripts require a separate test database. Sources: scripts/run-tests.cjs and docs/testing/test-plan.md.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Source: docs/testing/results.md and run logs from 24 September 2026 UTC. Unit tests: 16 passed, zero failed. Three browser scripts pass at 1440 and 390 pixels with both themes, making six viewport scenarios, not six unit tests. Build passes with a bundle-size warning. Database integration functionality was not executed during this verification because no separate test database was configured.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Sources: docs/testing/bug-log.csv and latest UI run 03.txt. The prior FullCalendar error was DayTableView constructor error caused by mixed major package versions. Fix aligned React, daygrid and interaction packages to 6.1.21 and refreshed Vite cache. Mobile fix wrapped headings and used compact block events. Both viewport checks passed after changes. These logs are evidence, not fabricated customer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 seconds for transition, then allow approximately three minutes for live demonstration. Use fictional records. Show registration choices, patient tabs and appointments. Do not send mail to a real patient during evaluation. Open saved test evidence if asked. Outstanding before clinical deployment: configured integration run, clinician acceptance, controlled real inbox check, restore verification and security hardening. Sources: docs/testing/results.md and developer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Show only if asked. Unit coverage log reports 100% for caseHistory.js across line, branch and function measures. The VM-loaded reminder module is excluded and testEnvironment.cjs has 62.5% line coverage. Never describe this as whole-project coverage. Manual and acceptance cases remain Not run. Sources are the listed project files. The recorded safety rejection is expected behavior, not proof of integration functionality.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6df8136b9b441a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28bc62265e4f6c" /><Relationship Type="http://schemas.openxmlformats.org/officeDocument/2006/relationships/slideLayout" Target="/ppt/slideLayouts/slideLayout1.xml" Id="R177af26d2ead49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7af26d2ead49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f32f2cccc04e8e" /><Relationship Type="http://schemas.openxmlformats.org/officeDocument/2006/relationships/notesSlide" Target="/ppt/notesSlides/notesSlide1.xml" Id="R9f3dce1738324f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3c6d6d3c6f4a38" /><Relationship Type="http://schemas.openxmlformats.org/officeDocument/2006/relationships/notesSlide" Target="/ppt/notesSlides/notesSlide2.xml" Id="R5ea313c09b3545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163c889b5c64e9a" /><Relationship Type="http://schemas.openxmlformats.org/officeDocument/2006/relationships/notesSlide" Target="/ppt/notesSlides/notesSlide3.xml" Id="Rea2860d5502243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f5e471bbe4460f" /><Relationship Type="http://schemas.openxmlformats.org/officeDocument/2006/relationships/image" Target="/ppt/media/image.png" Id="Re6b8abb9817c4c00" /><Relationship Type="http://schemas.openxmlformats.org/officeDocument/2006/relationships/notesSlide" Target="/ppt/notesSlides/notesSlide4.xml" Id="R9f8db621908946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de9a416cc04cac" /><Relationship Type="http://schemas.openxmlformats.org/officeDocument/2006/relationships/image" Target="/ppt/media/image2.png" Id="R8cf21250466548c1" /><Relationship Type="http://schemas.openxmlformats.org/officeDocument/2006/relationships/notesSlide" Target="/ppt/notesSlides/notesSlide5.xml" Id="R6854a3dd9e704b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9662583b4434f67" /><Relationship Type="http://schemas.openxmlformats.org/officeDocument/2006/relationships/notesSlide" Target="/ppt/notesSlides/notesSlide6.xml" Id="Rfdb3b214707f48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73f1c0f0674702" /><Relationship Type="http://schemas.openxmlformats.org/officeDocument/2006/relationships/notesSlide" Target="/ppt/notesSlides/notesSlide7.xml" Id="R9697e267475d4c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3a0cf549394890" /><Relationship Type="http://schemas.openxmlformats.org/officeDocument/2006/relationships/notesSlide" Target="/ppt/notesSlides/notesSlide8.xml" Id="R43ad53a720c741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de67415e464ecc" /><Relationship Type="http://schemas.openxmlformats.org/officeDocument/2006/relationships/notesSlide" Target="/ppt/notesSlides/notesSlide9.xml" Id="R6c097d4efb444e5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437244c97de420b" /><Relationship Type="http://schemas.openxmlformats.org/officeDocument/2006/relationships/notesSlide" Target="/ppt/notesSlides/notesSlide10.xml" Id="Rb64cb6eb7d3941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af8eaa1a354b8f" /><Relationship Type="http://schemas.openxmlformats.org/officeDocument/2006/relationships/notesSlide" Target="/ppt/notesSlides/notesSlide11.xml" Id="R8c14dd6988fc415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34a3588e8624e6a" /><Relationship Type="http://schemas.openxmlformats.org/officeDocument/2006/relationships/notesSlide" Target="/ppt/notesSlides/notesSlide12.xml" Id="R2eb323f64c8d49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df0735219af40b9" /><Relationship Type="http://schemas.openxmlformats.org/officeDocument/2006/relationships/notesSlide" Target="/ppt/notesSlides/notesSlide13.xml" Id="Rebff6a59cbd8451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C563E9-9F0E-47DE-ACEB-6F90C3A843EB}"/>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OrthoFlow</a:t>
            </a:r>
          </a:p>
        </p:txBody>
      </p:sp>
      <p:sp>
        <p:nvSpPr>
          <p:cNvPr id="2" name="">
            <a:extLst xmlns:a="http://schemas.openxmlformats.org/drawingml/2006/main">
              <a:ext uri="{FF2B5EF4-FFF2-40B4-BE49-F238E27FC236}">
                <a16:creationId xmlns:a16="http://schemas.microsoft.com/office/drawing/2014/main" id="{BE1B1836-F5E0-40D9-9B54-E242427F8F7E}"/>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43FE2FF9-9F6C-4CED-9D62-5DDB1CCB5621}"/>
              </a:ext>
            </a:extLst>
          </p:cNvPr>
          <p:cNvSpPr>
            <a:spLocks xmlns:a="http://schemas.openxmlformats.org/drawingml/2006/main" noGrp="1"/>
          </p:cNvSpPr>
          <p:nvPr/>
        </p:nvSpPr>
        <p:spPr>
          <a:xfrm xmlns:a="http://schemas.openxmlformats.org/drawingml/2006/main">
            <a:off x="609600" y="171450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7F8C"/>
                </a:solidFill>
                <a:latin typeface="Arial"/>
                <a:ea typeface="Arial"/>
                <a:cs typeface="Arial"/>
              </a:defRPr>
            </a:pPr>
            <a:r>
              <a:rPr sz="3300" b="1">
                <a:solidFill>
                  <a:srgbClr val="087F8C"/>
                </a:solidFill>
                <a:latin typeface="Arial"/>
                <a:ea typeface="Arial"/>
                <a:cs typeface="Arial"/>
              </a:rPr>
              <a:t>Digitization and workflow automation</a:t>
            </a:r>
          </a:p>
          <a:p xmlns:a="http://schemas.openxmlformats.org/drawingml/2006/main">
            <a:pPr>
              <a:defRPr sz="3300" b="1">
                <a:solidFill>
                  <a:srgbClr val="087F8C"/>
                </a:solidFill>
                <a:latin typeface="Arial"/>
                <a:ea typeface="Arial"/>
                <a:cs typeface="Arial"/>
              </a:defRPr>
            </a:pPr>
            <a:r>
              <a:rPr sz="3300" b="1">
                <a:solidFill>
                  <a:srgbClr val="087F8C"/>
                </a:solidFill>
                <a:latin typeface="Arial"/>
                <a:ea typeface="Arial"/>
                <a:cs typeface="Arial"/>
              </a:rPr>
              <a:t>of orthodontic case records</a:t>
            </a:r>
          </a:p>
        </p:txBody>
      </p:sp>
      <p:sp>
        <p:nvSpPr>
          <p:cNvPr id="4" name="">
            <a:extLst xmlns:a="http://schemas.openxmlformats.org/drawingml/2006/main">
              <a:ext uri="{FF2B5EF4-FFF2-40B4-BE49-F238E27FC236}">
                <a16:creationId xmlns:a16="http://schemas.microsoft.com/office/drawing/2014/main" id="{56E51222-6A2A-4B5B-9178-9AFEC4117AA7}"/>
              </a:ext>
            </a:extLst>
          </p:cNvPr>
          <p:cNvSpPr>
            <a:spLocks xmlns:a="http://schemas.openxmlformats.org/drawingml/2006/main" noGrp="1"/>
          </p:cNvSpPr>
          <p:nvPr/>
        </p:nvSpPr>
        <p:spPr>
          <a:xfrm xmlns:a="http://schemas.openxmlformats.org/drawingml/2006/main">
            <a:off x="609600" y="347662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CO2060 Milestone 4 evaluation</a:t>
            </a:r>
          </a:p>
        </p:txBody>
      </p:sp>
      <p:sp>
        <p:nvSpPr>
          <p:cNvPr id="5" name="">
            <a:extLst xmlns:a="http://schemas.openxmlformats.org/drawingml/2006/main">
              <a:ext uri="{FF2B5EF4-FFF2-40B4-BE49-F238E27FC236}">
                <a16:creationId xmlns:a16="http://schemas.microsoft.com/office/drawing/2014/main" id="{9A52D247-D613-4604-8159-69F2F0D61672}"/>
              </a:ext>
            </a:extLst>
          </p:cNvPr>
          <p:cNvSpPr>
            <a:spLocks xmlns:a="http://schemas.openxmlformats.org/drawingml/2006/main" noGrp="1"/>
          </p:cNvSpPr>
          <p:nvPr/>
        </p:nvSpPr>
        <p:spPr>
          <a:xfrm xmlns:a="http://schemas.openxmlformats.org/drawingml/2006/main">
            <a:off x="609600" y="4476750"/>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B33"/>
                </a:solidFill>
                <a:latin typeface="Arial"/>
                <a:ea typeface="Arial"/>
                <a:cs typeface="Arial"/>
              </a:defRPr>
            </a:pPr>
            <a:r>
              <a:rPr sz="1875" b="0">
                <a:solidFill>
                  <a:srgbClr val="172B33"/>
                </a:solidFill>
                <a:latin typeface="Arial"/>
                <a:ea typeface="Arial"/>
                <a:cs typeface="Arial"/>
              </a:rPr>
              <a:t>E23G20</a:t>
            </a:r>
          </a:p>
          <a:p xmlns:a="http://schemas.openxmlformats.org/drawingml/2006/main">
            <a:pPr>
              <a:defRPr sz="1875" b="0">
                <a:solidFill>
                  <a:srgbClr val="172B33"/>
                </a:solidFill>
                <a:latin typeface="Arial"/>
                <a:ea typeface="Arial"/>
                <a:cs typeface="Arial"/>
              </a:defRPr>
            </a:pPr>
            <a:r>
              <a:rPr sz="1875" b="0">
                <a:solidFill>
                  <a:srgbClr val="172B33"/>
                </a:solidFill>
                <a:latin typeface="Arial"/>
                <a:ea typeface="Arial"/>
                <a:cs typeface="Arial"/>
              </a:rPr>
              <a:t>G.N.N.N. Madusanka   E/23/214</a:t>
            </a:r>
          </a:p>
          <a:p xmlns:a="http://schemas.openxmlformats.org/drawingml/2006/main">
            <a:pPr>
              <a:defRPr sz="1875" b="0">
                <a:solidFill>
                  <a:srgbClr val="172B33"/>
                </a:solidFill>
                <a:latin typeface="Arial"/>
                <a:ea typeface="Arial"/>
                <a:cs typeface="Arial"/>
              </a:defRPr>
            </a:pPr>
            <a:r>
              <a:rPr sz="1875" b="0">
                <a:solidFill>
                  <a:srgbClr val="172B33"/>
                </a:solidFill>
                <a:latin typeface="Arial"/>
                <a:ea typeface="Arial"/>
                <a:cs typeface="Arial"/>
              </a:rPr>
              <a:t>S.A.A. Upek   E/23/407</a:t>
            </a:r>
          </a:p>
          <a:p xmlns:a="http://schemas.openxmlformats.org/drawingml/2006/main">
            <a:pPr>
              <a:defRPr sz="1875" b="0">
                <a:solidFill>
                  <a:srgbClr val="172B33"/>
                </a:solidFill>
                <a:latin typeface="Arial"/>
                <a:ea typeface="Arial"/>
                <a:cs typeface="Arial"/>
              </a:defRPr>
            </a:pPr>
            <a:r>
              <a:rPr sz="1875" b="0">
                <a:solidFill>
                  <a:srgbClr val="172B33"/>
                </a:solidFill>
                <a:latin typeface="Arial"/>
                <a:ea typeface="Arial"/>
                <a:cs typeface="Arial"/>
              </a:rPr>
              <a:t>D.J. Thotagamuwa   E/23/403</a:t>
            </a:r>
          </a:p>
        </p:txBody>
      </p:sp>
    </p:spTree>
    <p:extLst>
      <p:ext uri="{BB962C8B-B14F-4D97-AF65-F5344CB8AC3E}">
        <p14:creationId xmlns:p14="http://schemas.microsoft.com/office/powerpoint/2010/main" val="13599871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B632C8-89AB-4940-B146-39EEB6D05948}"/>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The clinical problem and target users</a:t>
            </a:r>
          </a:p>
        </p:txBody>
      </p:sp>
      <p:sp>
        <p:nvSpPr>
          <p:cNvPr id="2" name="">
            <a:extLst xmlns:a="http://schemas.openxmlformats.org/drawingml/2006/main">
              <a:ext uri="{FF2B5EF4-FFF2-40B4-BE49-F238E27FC236}">
                <a16:creationId xmlns:a16="http://schemas.microsoft.com/office/drawing/2014/main" id="{F88DF5A6-7E0A-4519-88D3-A99123ACD92B}"/>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94512171-13B3-470F-94F7-2F1B84E1697B}"/>
              </a:ext>
            </a:extLst>
          </p:cNvPr>
          <p:cNvSpPr>
            <a:spLocks xmlns:a="http://schemas.openxmlformats.org/drawingml/2006/main" noGrp="1"/>
          </p:cNvSpPr>
          <p:nvPr/>
        </p:nvSpPr>
        <p:spPr>
          <a:xfrm xmlns:a="http://schemas.openxmlformats.org/drawingml/2006/main">
            <a:off x="609600" y="171450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Paper and fragmented records</a:t>
            </a:r>
          </a:p>
        </p:txBody>
      </p:sp>
      <p:sp>
        <p:nvSpPr>
          <p:cNvPr id="4" name="">
            <a:extLst xmlns:a="http://schemas.openxmlformats.org/drawingml/2006/main">
              <a:ext uri="{FF2B5EF4-FFF2-40B4-BE49-F238E27FC236}">
                <a16:creationId xmlns:a16="http://schemas.microsoft.com/office/drawing/2014/main" id="{5E5A78D8-22A4-43AF-898C-2033AC2A41CA}"/>
              </a:ext>
            </a:extLst>
          </p:cNvPr>
          <p:cNvSpPr>
            <a:spLocks xmlns:a="http://schemas.openxmlformats.org/drawingml/2006/main" noGrp="1"/>
          </p:cNvSpPr>
          <p:nvPr/>
        </p:nvSpPr>
        <p:spPr>
          <a:xfrm xmlns:a="http://schemas.openxmlformats.org/drawingml/2006/main">
            <a:off x="609600" y="2286000"/>
            <a:ext cx="5143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History, examination findings and radiographs can become separated.</a:t>
            </a:r>
          </a:p>
          <a:p xmlns:a="http://schemas.openxmlformats.org/drawingml/2006/main">
            <a:r>
              <a:t/>
            </a:r>
          </a:p>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Repeated typing and manual follow-up make longitudinal care harder to track.</a:t>
            </a:r>
          </a:p>
        </p:txBody>
      </p:sp>
      <p:sp>
        <p:nvSpPr>
          <p:cNvPr id="5" name="">
            <a:extLst xmlns:a="http://schemas.openxmlformats.org/drawingml/2006/main">
              <a:ext uri="{FF2B5EF4-FFF2-40B4-BE49-F238E27FC236}">
                <a16:creationId xmlns:a16="http://schemas.microsoft.com/office/drawing/2014/main" id="{C5411FE5-7E2B-4EB5-8AFE-D2538403329E}"/>
              </a:ext>
            </a:extLst>
          </p:cNvPr>
          <p:cNvSpPr>
            <a:spLocks xmlns:a="http://schemas.openxmlformats.org/drawingml/2006/main" noGrp="1"/>
          </p:cNvSpPr>
          <p:nvPr/>
        </p:nvSpPr>
        <p:spPr>
          <a:xfrm xmlns:a="http://schemas.openxmlformats.org/drawingml/2006/main">
            <a:off x="6477000" y="17145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Who uses OrthoFlow</a:t>
            </a:r>
          </a:p>
        </p:txBody>
      </p:sp>
      <p:sp>
        <p:nvSpPr>
          <p:cNvPr id="6" name="">
            <a:extLst xmlns:a="http://schemas.openxmlformats.org/drawingml/2006/main">
              <a:ext uri="{FF2B5EF4-FFF2-40B4-BE49-F238E27FC236}">
                <a16:creationId xmlns:a16="http://schemas.microsoft.com/office/drawing/2014/main" id="{3AE95FD1-F073-4759-A61E-49B2298BC7FD}"/>
              </a:ext>
            </a:extLst>
          </p:cNvPr>
          <p:cNvSpPr>
            <a:spLocks xmlns:a="http://schemas.openxmlformats.org/drawingml/2006/main" noGrp="1"/>
          </p:cNvSpPr>
          <p:nvPr/>
        </p:nvSpPr>
        <p:spPr>
          <a:xfrm xmlns:a="http://schemas.openxmlformats.org/drawingml/2006/main">
            <a:off x="6477000" y="2286000"/>
            <a:ext cx="5048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Staff and clinicians manage records and appointments.</a:t>
            </a:r>
          </a:p>
          <a:p xmlns:a="http://schemas.openxmlformats.org/drawingml/2006/main">
            <a:r>
              <a:t/>
            </a:r>
          </a:p>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Students read assigned cases.</a:t>
            </a:r>
          </a:p>
          <a:p xmlns:a="http://schemas.openxmlformats.org/drawingml/2006/main">
            <a:r>
              <a:t/>
            </a:r>
          </a:p>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Administrators manage accounts.</a:t>
            </a:r>
          </a:p>
        </p:txBody>
      </p:sp>
      <p:sp>
        <p:nvSpPr>
          <p:cNvPr id="7" name="">
            <a:extLst xmlns:a="http://schemas.openxmlformats.org/drawingml/2006/main">
              <a:ext uri="{FF2B5EF4-FFF2-40B4-BE49-F238E27FC236}">
                <a16:creationId xmlns:a16="http://schemas.microsoft.com/office/drawing/2014/main" id="{A90E5715-10F7-4DEF-8CA7-D73A4802070B}"/>
              </a:ext>
            </a:extLst>
          </p:cNvPr>
          <p:cNvSpPr>
            <a:spLocks xmlns:a="http://schemas.openxmlformats.org/drawingml/2006/main" noGrp="1"/>
          </p:cNvSpPr>
          <p:nvPr/>
        </p:nvSpPr>
        <p:spPr>
          <a:xfrm xmlns:a="http://schemas.openxmlformats.org/drawingml/2006/main">
            <a:off x="609600" y="57150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0"/>
                </a:solidFill>
                <a:latin typeface="Arial"/>
                <a:ea typeface="Arial"/>
                <a:cs typeface="Arial"/>
              </a:defRPr>
            </a:pPr>
            <a:r>
              <a:rPr sz="1725" b="0">
                <a:solidFill>
                  <a:srgbClr val="536870"/>
                </a:solidFill>
                <a:latin typeface="Arial"/>
                <a:ea typeface="Arial"/>
                <a:cs typeface="Arial"/>
              </a:rPr>
              <a:t>Patients receive email reminders. A dedicated patient-login role remains outside the current implementation.</a:t>
            </a:r>
          </a:p>
        </p:txBody>
      </p:sp>
    </p:spTree>
    <p:extLst>
      <p:ext uri="{BB962C8B-B14F-4D97-AF65-F5344CB8AC3E}">
        <p14:creationId xmlns:p14="http://schemas.microsoft.com/office/powerpoint/2010/main" val="58727433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26D31DD-1DDC-4E4E-A7A4-DFC33734E133}"/>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Completion against the original plan</a:t>
            </a:r>
          </a:p>
        </p:txBody>
      </p:sp>
      <p:sp>
        <p:nvSpPr>
          <p:cNvPr id="2" name="">
            <a:extLst xmlns:a="http://schemas.openxmlformats.org/drawingml/2006/main">
              <a:ext uri="{FF2B5EF4-FFF2-40B4-BE49-F238E27FC236}">
                <a16:creationId xmlns:a16="http://schemas.microsoft.com/office/drawing/2014/main" id="{994FC92E-8A60-4507-A8DF-DE8C4E0DB875}"/>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03</a:t>
            </a:r>
          </a:p>
        </p:txBody>
      </p:sp>
      <p:graphicFrame>
        <p:nvGraphicFramePr>
          <p:cNvPr id="7" name=""/>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3714750"/>
                <a:gridCol w="7258050"/>
              </a:tblGrid>
              <a:tr h="742950">
                <a:tc>
                  <a:txBody>
                    <a:bodyPr/>
                    <a:lstStyle/>
                    <a:p>
                      <a:r>
                        <a:rPr sz="1875" b="1">
                          <a:solidFill>
                            <a:srgbClr val="FFFFFF"/>
                          </a:solidFill>
                          <a:latin typeface="Arial"/>
                          <a:ea typeface="Arial"/>
                          <a:cs typeface="Arial"/>
                        </a:rPr>
                        <a:t>Original requirement</a:t>
                      </a:r>
                    </a:p>
                  </a:txBody>
                  <a:tcPr marL="91440" marR="91440" marT="45720" marB="45720">
                    <a:solidFill>
                      <a:srgbClr val="087F8C"/>
                    </a:solidFill>
                  </a:tcPr>
                </a:tc>
                <a:tc>
                  <a:txBody>
                    <a:bodyPr/>
                    <a:lstStyle/>
                    <a:p>
                      <a:r>
                        <a:rPr sz="1875" b="1">
                          <a:solidFill>
                            <a:srgbClr val="FFFFFF"/>
                          </a:solidFill>
                          <a:latin typeface="Arial"/>
                          <a:ea typeface="Arial"/>
                          <a:cs typeface="Arial"/>
                        </a:rPr>
                        <a:t>Current implementation</a:t>
                      </a:r>
                    </a:p>
                  </a:txBody>
                  <a:tcPr marL="91440" marR="91440" marT="45720" marB="45720">
                    <a:solidFill>
                      <a:srgbClr val="087F8C"/>
                    </a:solidFill>
                  </a:tcPr>
                </a:tc>
              </a:tr>
              <a:tr h="742950">
                <a:tc>
                  <a:txBody>
                    <a:bodyPr/>
                    <a:lstStyle/>
                    <a:p>
                      <a:r>
                        <a:rPr sz="1875" b="0">
                          <a:solidFill>
                            <a:srgbClr val="172B33"/>
                          </a:solidFill>
                          <a:latin typeface="Arial"/>
                          <a:ea typeface="Arial"/>
                          <a:cs typeface="Arial"/>
                        </a:rPr>
                        <a:t>Digital patient records</a:t>
                      </a:r>
                    </a:p>
                  </a:txBody>
                  <a:tcPr marL="91440" marR="91440" marT="45720" marB="45720">
                    <a:solidFill>
                      <a:srgbClr val="FFFFFF"/>
                    </a:solidFill>
                  </a:tcPr>
                </a:tc>
                <a:tc>
                  <a:txBody>
                    <a:bodyPr/>
                    <a:lstStyle/>
                    <a:p>
                      <a:r>
                        <a:rPr sz="1875" b="0">
                          <a:solidFill>
                            <a:srgbClr val="172B33"/>
                          </a:solidFill>
                          <a:latin typeface="Arial"/>
                          <a:ea typeface="Arial"/>
                          <a:cs typeface="Arial"/>
                        </a:rPr>
                        <a:t>Staged registration and structured clinical examination</a:t>
                      </a:r>
                    </a:p>
                  </a:txBody>
                  <a:tcPr marL="91440" marR="91440" marT="45720" marB="45720">
                    <a:solidFill>
                      <a:srgbClr val="FFFFFF"/>
                    </a:solidFill>
                  </a:tcPr>
                </a:tc>
              </a:tr>
              <a:tr h="742950">
                <a:tc>
                  <a:txBody>
                    <a:bodyPr/>
                    <a:lstStyle/>
                    <a:p>
                      <a:r>
                        <a:rPr sz="1875" b="0">
                          <a:solidFill>
                            <a:srgbClr val="172B33"/>
                          </a:solidFill>
                          <a:latin typeface="Arial"/>
                          <a:ea typeface="Arial"/>
                          <a:cs typeface="Arial"/>
                        </a:rPr>
                        <a:t>Radiographs in the patient folder</a:t>
                      </a:r>
                    </a:p>
                  </a:txBody>
                  <a:tcPr marL="91440" marR="91440" marT="45720" marB="45720">
                    <a:solidFill>
                      <a:srgbClr val="EDF4F5"/>
                    </a:solidFill>
                  </a:tcPr>
                </a:tc>
                <a:tc>
                  <a:txBody>
                    <a:bodyPr/>
                    <a:lstStyle/>
                    <a:p>
                      <a:r>
                        <a:rPr sz="1875" b="0">
                          <a:solidFill>
                            <a:srgbClr val="172B33"/>
                          </a:solidFill>
                          <a:latin typeface="Arial"/>
                          <a:ea typeface="Arial"/>
                          <a:cs typeface="Arial"/>
                        </a:rPr>
                        <a:t>Patient-linked image uploads and protected retrieval</a:t>
                      </a:r>
                    </a:p>
                  </a:txBody>
                  <a:tcPr marL="91440" marR="91440" marT="45720" marB="45720">
                    <a:solidFill>
                      <a:srgbClr val="EDF4F5"/>
                    </a:solidFill>
                  </a:tcPr>
                </a:tc>
              </a:tr>
              <a:tr h="742950">
                <a:tc>
                  <a:txBody>
                    <a:bodyPr/>
                    <a:lstStyle/>
                    <a:p>
                      <a:r>
                        <a:rPr sz="1875" b="0">
                          <a:solidFill>
                            <a:srgbClr val="172B33"/>
                          </a:solidFill>
                          <a:latin typeface="Arial"/>
                          <a:ea typeface="Arial"/>
                          <a:cs typeface="Arial"/>
                        </a:rPr>
                        <a:t>Trace patient history</a:t>
                      </a:r>
                    </a:p>
                  </a:txBody>
                  <a:tcPr marL="91440" marR="91440" marT="45720" marB="45720">
                    <a:solidFill>
                      <a:srgbClr val="FFFFFF"/>
                    </a:solidFill>
                  </a:tcPr>
                </a:tc>
                <a:tc>
                  <a:txBody>
                    <a:bodyPr/>
                    <a:lstStyle/>
                    <a:p>
                      <a:r>
                        <a:rPr sz="1875" b="0">
                          <a:solidFill>
                            <a:srgbClr val="172B33"/>
                          </a:solidFill>
                          <a:latin typeface="Arial"/>
                          <a:ea typeface="Arial"/>
                          <a:cs typeface="Arial"/>
                        </a:rPr>
                        <a:t>Activity history and linked clinical record revisions</a:t>
                      </a:r>
                    </a:p>
                  </a:txBody>
                  <a:tcPr marL="91440" marR="91440" marT="45720" marB="45720">
                    <a:solidFill>
                      <a:srgbClr val="FFFFFF"/>
                    </a:solidFill>
                  </a:tcPr>
                </a:tc>
              </a:tr>
              <a:tr h="742950">
                <a:tc>
                  <a:txBody>
                    <a:bodyPr/>
                    <a:lstStyle/>
                    <a:p>
                      <a:r>
                        <a:rPr sz="1875" b="0">
                          <a:solidFill>
                            <a:srgbClr val="172B33"/>
                          </a:solidFill>
                          <a:latin typeface="Arial"/>
                          <a:ea typeface="Arial"/>
                          <a:cs typeface="Arial"/>
                        </a:rPr>
                        <a:t>Upcoming appointment reminders</a:t>
                      </a:r>
                    </a:p>
                  </a:txBody>
                  <a:tcPr marL="91440" marR="91440" marT="45720" marB="45720">
                    <a:solidFill>
                      <a:srgbClr val="EDF4F5"/>
                    </a:solidFill>
                  </a:tcPr>
                </a:tc>
                <a:tc>
                  <a:txBody>
                    <a:bodyPr/>
                    <a:lstStyle/>
                    <a:p>
                      <a:r>
                        <a:rPr sz="1875" b="0">
                          <a:solidFill>
                            <a:srgbClr val="172B33"/>
                          </a:solidFill>
                          <a:latin typeface="Arial"/>
                          <a:ea typeface="Arial"/>
                          <a:cs typeface="Arial"/>
                        </a:rPr>
                        <a:t>Email-only scheduler, delivery status and manual retry</a:t>
                      </a:r>
                    </a:p>
                  </a:txBody>
                  <a:tcPr marL="91440" marR="91440" marT="45720" marB="45720">
                    <a:solidFill>
                      <a:srgbClr val="EDF4F5"/>
                    </a:solidFill>
                  </a:tcPr>
                </a:tc>
              </a:tr>
            </a:tbl>
          </a:graphicData>
        </a:graphic>
      </p:graphicFrame>
      <p:sp>
        <p:nvSpPr>
          <p:cNvPr id="4" name="">
            <a:extLst xmlns:a="http://schemas.openxmlformats.org/drawingml/2006/main">
              <a:ext uri="{FF2B5EF4-FFF2-40B4-BE49-F238E27FC236}">
                <a16:creationId xmlns:a16="http://schemas.microsoft.com/office/drawing/2014/main" id="{3BF8E9D4-E52C-4351-A01E-669B28059F4D}"/>
              </a:ext>
            </a:extLst>
          </p:cNvPr>
          <p:cNvSpPr>
            <a:spLocks xmlns:a="http://schemas.openxmlformats.org/drawingml/2006/main" noGrp="1"/>
          </p:cNvSpPr>
          <p:nvPr/>
        </p:nvSpPr>
        <p:spPr>
          <a:xfrm xmlns:a="http://schemas.openxmlformats.org/drawingml/2006/main">
            <a:off x="609600" y="5715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0"/>
                </a:solidFill>
                <a:latin typeface="Arial"/>
                <a:ea typeface="Arial"/>
                <a:cs typeface="Arial"/>
              </a:defRPr>
            </a:pPr>
            <a:r>
              <a:rPr sz="1875" b="0">
                <a:solidFill>
                  <a:srgbClr val="536870"/>
                </a:solidFill>
                <a:latin typeface="Arial"/>
                <a:ea typeface="Arial"/>
                <a:cs typeface="Arial"/>
              </a:rPr>
              <a:t>Additional workflows: clinician scheduling, student access, consent evidence, retention and discharge.</a:t>
            </a:r>
          </a:p>
        </p:txBody>
      </p:sp>
    </p:spTree>
    <p:extLst>
      <p:ext uri="{BB962C8B-B14F-4D97-AF65-F5344CB8AC3E}">
        <p14:creationId xmlns:p14="http://schemas.microsoft.com/office/powerpoint/2010/main" val="5355767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2F12439-C577-4A99-8172-332C57BBAD6F}"/>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Structured clinical records</a:t>
            </a:r>
          </a:p>
        </p:txBody>
      </p:sp>
      <p:sp>
        <p:nvSpPr>
          <p:cNvPr id="2" name="">
            <a:extLst xmlns:a="http://schemas.openxmlformats.org/drawingml/2006/main">
              <a:ext uri="{FF2B5EF4-FFF2-40B4-BE49-F238E27FC236}">
                <a16:creationId xmlns:a16="http://schemas.microsoft.com/office/drawing/2014/main" id="{48E9981B-B47D-43DB-B277-6AAF7BC07F31}"/>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04</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6b8abb9817c4c00"/>
          <a:stretch xmlns:a="http://schemas.openxmlformats.org/drawingml/2006/main"/>
        </p:blipFill>
        <p:spPr>
          <a:xfrm xmlns:a="http://schemas.openxmlformats.org/drawingml/2006/main">
            <a:off x="1259205" y="1714500"/>
            <a:ext cx="6035040"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D861436-E589-47E0-AA61-B97E344A9BE1}"/>
              </a:ext>
            </a:extLst>
          </p:cNvPr>
          <p:cNvSpPr>
            <a:spLocks xmlns:a="http://schemas.openxmlformats.org/drawingml/2006/main" noGrp="1"/>
          </p:cNvSpPr>
          <p:nvPr/>
        </p:nvSpPr>
        <p:spPr>
          <a:xfrm xmlns:a="http://schemas.openxmlformats.org/drawingml/2006/main">
            <a:off x="8382000" y="17145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Less repeated typing</a:t>
            </a:r>
          </a:p>
        </p:txBody>
      </p:sp>
      <p:sp>
        <p:nvSpPr>
          <p:cNvPr id="5" name="">
            <a:extLst xmlns:a="http://schemas.openxmlformats.org/drawingml/2006/main">
              <a:ext uri="{FF2B5EF4-FFF2-40B4-BE49-F238E27FC236}">
                <a16:creationId xmlns:a16="http://schemas.microsoft.com/office/drawing/2014/main" id="{FA71F6FC-D164-47F0-B4C1-CDAB6EDCB635}"/>
              </a:ext>
            </a:extLst>
          </p:cNvPr>
          <p:cNvSpPr>
            <a:spLocks xmlns:a="http://schemas.openxmlformats.org/drawingml/2006/main" noGrp="1"/>
          </p:cNvSpPr>
          <p:nvPr/>
        </p:nvSpPr>
        <p:spPr>
          <a:xfrm xmlns:a="http://schemas.openxmlformats.org/drawingml/2006/main">
            <a:off x="8382000" y="2286000"/>
            <a:ext cx="3143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B33"/>
                </a:solidFill>
                <a:latin typeface="Arial"/>
                <a:ea typeface="Arial"/>
                <a:cs typeface="Arial"/>
              </a:defRPr>
            </a:pPr>
            <a:r>
              <a:rPr sz="1950" b="0">
                <a:solidFill>
                  <a:srgbClr val="172B33"/>
                </a:solidFill>
                <a:latin typeface="Arial"/>
                <a:ea typeface="Arial"/>
                <a:cs typeface="Arial"/>
              </a:rPr>
              <a:t>Selectable clinical findings</a:t>
            </a:r>
          </a:p>
          <a:p xmlns:a="http://schemas.openxmlformats.org/drawingml/2006/main">
            <a:r>
              <a:t/>
            </a:r>
          </a:p>
          <a:p xmlns:a="http://schemas.openxmlformats.org/drawingml/2006/main">
            <a:pPr>
              <a:defRPr sz="1950" b="0">
                <a:solidFill>
                  <a:srgbClr val="172B33"/>
                </a:solidFill>
                <a:latin typeface="Arial"/>
                <a:ea typeface="Arial"/>
                <a:cs typeface="Arial"/>
              </a:defRPr>
            </a:pPr>
            <a:r>
              <a:rPr sz="1950" b="0">
                <a:solidFill>
                  <a:srgbClr val="172B33"/>
                </a:solidFill>
                <a:latin typeface="Arial"/>
                <a:ea typeface="Arial"/>
                <a:cs typeface="Arial"/>
              </a:rPr>
              <a:t>Conditional fields</a:t>
            </a:r>
          </a:p>
          <a:p xmlns:a="http://schemas.openxmlformats.org/drawingml/2006/main">
            <a:r>
              <a:t/>
            </a:r>
          </a:p>
          <a:p xmlns:a="http://schemas.openxmlformats.org/drawingml/2006/main">
            <a:pPr>
              <a:defRPr sz="1950" b="0">
                <a:solidFill>
                  <a:srgbClr val="172B33"/>
                </a:solidFill>
                <a:latin typeface="Arial"/>
                <a:ea typeface="Arial"/>
                <a:cs typeface="Arial"/>
              </a:defRPr>
            </a:pPr>
            <a:r>
              <a:rPr sz="1950" b="0">
                <a:solidFill>
                  <a:srgbClr val="172B33"/>
                </a:solidFill>
                <a:latin typeface="Arial"/>
                <a:ea typeface="Arial"/>
                <a:cs typeface="Arial"/>
              </a:rPr>
              <a:t>Validated measurements</a:t>
            </a:r>
          </a:p>
          <a:p xmlns:a="http://schemas.openxmlformats.org/drawingml/2006/main">
            <a:r>
              <a:t/>
            </a:r>
          </a:p>
          <a:p xmlns:a="http://schemas.openxmlformats.org/drawingml/2006/main">
            <a:pPr>
              <a:defRPr sz="1950" b="0">
                <a:solidFill>
                  <a:srgbClr val="172B33"/>
                </a:solidFill>
                <a:latin typeface="Arial"/>
                <a:ea typeface="Arial"/>
                <a:cs typeface="Arial"/>
              </a:defRPr>
            </a:pPr>
            <a:r>
              <a:rPr sz="1950" b="0">
                <a:solidFill>
                  <a:srgbClr val="172B33"/>
                </a:solidFill>
                <a:latin typeface="Arial"/>
                <a:ea typeface="Arial"/>
                <a:cs typeface="Arial"/>
              </a:rPr>
              <a:t>Traceable revisions</a:t>
            </a:r>
          </a:p>
        </p:txBody>
      </p:sp>
      <p:sp>
        <p:nvSpPr>
          <p:cNvPr id="6" name="">
            <a:extLst xmlns:a="http://schemas.openxmlformats.org/drawingml/2006/main">
              <a:ext uri="{FF2B5EF4-FFF2-40B4-BE49-F238E27FC236}">
                <a16:creationId xmlns:a16="http://schemas.microsoft.com/office/drawing/2014/main" id="{36663CAC-AA0F-4910-ACF8-570D3B44ABAC}"/>
              </a:ext>
            </a:extLst>
          </p:cNvPr>
          <p:cNvSpPr>
            <a:spLocks xmlns:a="http://schemas.openxmlformats.org/drawingml/2006/main" noGrp="1"/>
          </p:cNvSpPr>
          <p:nvPr/>
        </p:nvSpPr>
        <p:spPr>
          <a:xfrm xmlns:a="http://schemas.openxmlformats.org/drawingml/2006/main">
            <a:off x="609600" y="60293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870"/>
                </a:solidFill>
                <a:latin typeface="Arial"/>
                <a:ea typeface="Arial"/>
                <a:cs typeface="Arial"/>
              </a:defRPr>
            </a:pPr>
            <a:r>
              <a:rPr sz="1350" b="0">
                <a:solidFill>
                  <a:srgbClr val="536870"/>
                </a:solidFill>
                <a:latin typeface="Arial"/>
                <a:ea typeface="Arial"/>
                <a:cs typeface="Arial"/>
              </a:rPr>
              <a:t>Test screenshot with fictional data</a:t>
            </a:r>
          </a:p>
        </p:txBody>
      </p:sp>
    </p:spTree>
    <p:extLst>
      <p:ext uri="{BB962C8B-B14F-4D97-AF65-F5344CB8AC3E}">
        <p14:creationId xmlns:p14="http://schemas.microsoft.com/office/powerpoint/2010/main" val="4807675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26B24B-1E84-416B-837F-03F06A6C4C02}"/>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Appointment reminders</a:t>
            </a:r>
          </a:p>
        </p:txBody>
      </p:sp>
      <p:sp>
        <p:nvSpPr>
          <p:cNvPr id="2" name="">
            <a:extLst xmlns:a="http://schemas.openxmlformats.org/drawingml/2006/main">
              <a:ext uri="{FF2B5EF4-FFF2-40B4-BE49-F238E27FC236}">
                <a16:creationId xmlns:a16="http://schemas.microsoft.com/office/drawing/2014/main" id="{C1F17B69-4E62-4AC8-89BE-1FD677908B2C}"/>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CBBBDE9E-BF76-44AE-9187-0260F2ACB63B}"/>
              </a:ext>
            </a:extLst>
          </p:cNvPr>
          <p:cNvSpPr>
            <a:spLocks xmlns:a="http://schemas.openxmlformats.org/drawingml/2006/main" noGrp="1"/>
          </p:cNvSpPr>
          <p:nvPr/>
        </p:nvSpPr>
        <p:spPr>
          <a:xfrm xmlns:a="http://schemas.openxmlformats.org/drawingml/2006/main">
            <a:off x="609600" y="17145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24 hour reminder window</a:t>
            </a:r>
          </a:p>
        </p:txBody>
      </p:sp>
      <p:sp>
        <p:nvSpPr>
          <p:cNvPr id="4" name="">
            <a:extLst xmlns:a="http://schemas.openxmlformats.org/drawingml/2006/main">
              <a:ext uri="{FF2B5EF4-FFF2-40B4-BE49-F238E27FC236}">
                <a16:creationId xmlns:a16="http://schemas.microsoft.com/office/drawing/2014/main" id="{03A063B1-CD60-4255-AC52-CEC9A975DF04}"/>
              </a:ext>
            </a:extLst>
          </p:cNvPr>
          <p:cNvSpPr>
            <a:spLocks xmlns:a="http://schemas.openxmlformats.org/drawingml/2006/main" noGrp="1"/>
          </p:cNvSpPr>
          <p:nvPr/>
        </p:nvSpPr>
        <p:spPr>
          <a:xfrm xmlns:a="http://schemas.openxmlformats.org/drawingml/2006/main">
            <a:off x="609600" y="2286000"/>
            <a:ext cx="423862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B33"/>
                </a:solidFill>
                <a:latin typeface="Arial"/>
                <a:ea typeface="Arial"/>
                <a:cs typeface="Arial"/>
              </a:defRPr>
            </a:pPr>
            <a:r>
              <a:rPr sz="2025" b="0">
                <a:solidFill>
                  <a:srgbClr val="172B33"/>
                </a:solidFill>
                <a:latin typeface="Arial"/>
                <a:ea typeface="Arial"/>
                <a:cs typeface="Arial"/>
              </a:rPr>
              <a:t>Default scan interval: 5 minutes</a:t>
            </a:r>
          </a:p>
          <a:p xmlns:a="http://schemas.openxmlformats.org/drawingml/2006/main">
            <a:r>
              <a:t/>
            </a:r>
          </a:p>
          <a:p xmlns:a="http://schemas.openxmlformats.org/drawingml/2006/main">
            <a:pPr>
              <a:defRPr sz="2025" b="0">
                <a:solidFill>
                  <a:srgbClr val="172B33"/>
                </a:solidFill>
                <a:latin typeface="Arial"/>
                <a:ea typeface="Arial"/>
                <a:cs typeface="Arial"/>
              </a:defRPr>
            </a:pPr>
            <a:r>
              <a:rPr sz="2025" b="0">
                <a:solidFill>
                  <a:srgbClr val="172B33"/>
                </a:solidFill>
                <a:latin typeface="Arial"/>
                <a:ea typeface="Arial"/>
                <a:cs typeface="Arial"/>
              </a:rPr>
              <a:t>Patient and clinician emails</a:t>
            </a:r>
          </a:p>
          <a:p xmlns:a="http://schemas.openxmlformats.org/drawingml/2006/main">
            <a:r>
              <a:t/>
            </a:r>
          </a:p>
          <a:p xmlns:a="http://schemas.openxmlformats.org/drawingml/2006/main">
            <a:pPr>
              <a:defRPr sz="2025" b="0">
                <a:solidFill>
                  <a:srgbClr val="172B33"/>
                </a:solidFill>
                <a:latin typeface="Arial"/>
                <a:ea typeface="Arial"/>
                <a:cs typeface="Arial"/>
              </a:defRPr>
            </a:pPr>
            <a:r>
              <a:rPr sz="2025" b="0">
                <a:solidFill>
                  <a:srgbClr val="172B33"/>
                </a:solidFill>
                <a:latin typeface="Arial"/>
                <a:ea typeface="Arial"/>
                <a:cs typeface="Arial"/>
              </a:rPr>
              <a:t>Delivery status and panel notifications</a:t>
            </a:r>
          </a:p>
          <a:p xmlns:a="http://schemas.openxmlformats.org/drawingml/2006/main">
            <a:r>
              <a:t/>
            </a:r>
          </a:p>
          <a:p xmlns:a="http://schemas.openxmlformats.org/drawingml/2006/main">
            <a:pPr>
              <a:defRPr sz="2025" b="0">
                <a:solidFill>
                  <a:srgbClr val="172B33"/>
                </a:solidFill>
                <a:latin typeface="Arial"/>
                <a:ea typeface="Arial"/>
                <a:cs typeface="Arial"/>
              </a:defRPr>
            </a:pPr>
            <a:r>
              <a:rPr sz="2025" b="0">
                <a:solidFill>
                  <a:srgbClr val="172B33"/>
                </a:solidFill>
                <a:latin typeface="Arial"/>
                <a:ea typeface="Arial"/>
                <a:cs typeface="Arial"/>
              </a:rPr>
              <a:t>Cancelled or completed cases excluded</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cf21250466548c1"/>
          <a:stretch xmlns:a="http://schemas.openxmlformats.org/drawingml/2006/main"/>
        </p:blipFill>
        <p:spPr>
          <a:xfrm xmlns:a="http://schemas.openxmlformats.org/drawingml/2006/main">
            <a:off x="5237798" y="1666875"/>
            <a:ext cx="624078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973C5B-374E-45F0-A5A4-61C4BF7B1D72}"/>
              </a:ext>
            </a:extLst>
          </p:cNvPr>
          <p:cNvSpPr>
            <a:spLocks xmlns:a="http://schemas.openxmlformats.org/drawingml/2006/main" noGrp="1"/>
          </p:cNvSpPr>
          <p:nvPr/>
        </p:nvSpPr>
        <p:spPr>
          <a:xfrm xmlns:a="http://schemas.openxmlformats.org/drawingml/2006/main">
            <a:off x="609600" y="6000750"/>
            <a:ext cx="1071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870"/>
                </a:solidFill>
                <a:latin typeface="Arial"/>
                <a:ea typeface="Arial"/>
                <a:cs typeface="Arial"/>
              </a:defRPr>
            </a:pPr>
            <a:r>
              <a:rPr sz="1650" b="0">
                <a:solidFill>
                  <a:srgbClr val="536870"/>
                </a:solidFill>
                <a:latin typeface="Arial"/>
                <a:ea typeface="Arial"/>
                <a:cs typeface="Arial"/>
              </a:rPr>
              <a:t>The backend must remain running. SMTP acceptance does not prove inbox receipt.</a:t>
            </a:r>
          </a:p>
        </p:txBody>
      </p:sp>
    </p:spTree>
    <p:extLst>
      <p:ext uri="{BB962C8B-B14F-4D97-AF65-F5344CB8AC3E}">
        <p14:creationId xmlns:p14="http://schemas.microsoft.com/office/powerpoint/2010/main" val="1003243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596A52-F9B7-4F4F-8B85-625AF053CA5F}"/>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Engineering challenges and resolutions</a:t>
            </a:r>
          </a:p>
        </p:txBody>
      </p:sp>
      <p:sp>
        <p:nvSpPr>
          <p:cNvPr id="2" name="">
            <a:extLst xmlns:a="http://schemas.openxmlformats.org/drawingml/2006/main">
              <a:ext uri="{FF2B5EF4-FFF2-40B4-BE49-F238E27FC236}">
                <a16:creationId xmlns:a16="http://schemas.microsoft.com/office/drawing/2014/main" id="{C5A387F6-D069-4564-AFDF-9DC38AB12D84}"/>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06</a:t>
            </a:r>
          </a:p>
        </p:txBody>
      </p:sp>
      <p:graphicFrame>
        <p:nvGraphicFramePr>
          <p:cNvPr id="7" name=""/>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4095750"/>
                <a:gridCol w="6877050"/>
              </a:tblGrid>
              <a:tr h="742950">
                <a:tc>
                  <a:txBody>
                    <a:bodyPr/>
                    <a:lstStyle/>
                    <a:p>
                      <a:r>
                        <a:rPr sz="1875" b="1">
                          <a:solidFill>
                            <a:srgbClr val="FFFFFF"/>
                          </a:solidFill>
                          <a:latin typeface="Arial"/>
                          <a:ea typeface="Arial"/>
                          <a:cs typeface="Arial"/>
                        </a:rPr>
                        <a:t>Challenge</a:t>
                      </a:r>
                    </a:p>
                  </a:txBody>
                  <a:tcPr marL="91440" marR="91440" marT="45720" marB="45720">
                    <a:solidFill>
                      <a:srgbClr val="087F8C"/>
                    </a:solidFill>
                  </a:tcPr>
                </a:tc>
                <a:tc>
                  <a:txBody>
                    <a:bodyPr/>
                    <a:lstStyle/>
                    <a:p>
                      <a:r>
                        <a:rPr sz="1875" b="1">
                          <a:solidFill>
                            <a:srgbClr val="FFFFFF"/>
                          </a:solidFill>
                          <a:latin typeface="Arial"/>
                          <a:ea typeface="Arial"/>
                          <a:cs typeface="Arial"/>
                        </a:rPr>
                        <a:t>Implemented response</a:t>
                      </a:r>
                    </a:p>
                  </a:txBody>
                  <a:tcPr marL="91440" marR="91440" marT="45720" marB="45720">
                    <a:solidFill>
                      <a:srgbClr val="087F8C"/>
                    </a:solidFill>
                  </a:tcPr>
                </a:tc>
              </a:tr>
              <a:tr h="742950">
                <a:tc>
                  <a:txBody>
                    <a:bodyPr/>
                    <a:lstStyle/>
                    <a:p>
                      <a:r>
                        <a:rPr sz="1875" b="0">
                          <a:solidFill>
                            <a:srgbClr val="172B33"/>
                          </a:solidFill>
                          <a:latin typeface="Arial"/>
                          <a:ea typeface="Arial"/>
                          <a:cs typeface="Arial"/>
                        </a:rPr>
                        <a:t>Complex paper examination form</a:t>
                      </a:r>
                    </a:p>
                  </a:txBody>
                  <a:tcPr marL="91440" marR="91440" marT="45720" marB="45720">
                    <a:solidFill>
                      <a:srgbClr val="FFFFFF"/>
                    </a:solidFill>
                  </a:tcPr>
                </a:tc>
                <a:tc>
                  <a:txBody>
                    <a:bodyPr/>
                    <a:lstStyle/>
                    <a:p>
                      <a:r>
                        <a:rPr sz="1875" b="0">
                          <a:solidFill>
                            <a:srgbClr val="172B33"/>
                          </a:solidFill>
                          <a:latin typeface="Arial"/>
                          <a:ea typeface="Arial"/>
                          <a:cs typeface="Arial"/>
                        </a:rPr>
                        <a:t>Shared field definitions and conditional selections</a:t>
                      </a:r>
                    </a:p>
                  </a:txBody>
                  <a:tcPr marL="91440" marR="91440" marT="45720" marB="45720">
                    <a:solidFill>
                      <a:srgbClr val="FFFFFF"/>
                    </a:solidFill>
                  </a:tcPr>
                </a:tc>
              </a:tr>
              <a:tr h="742950">
                <a:tc>
                  <a:txBody>
                    <a:bodyPr/>
                    <a:lstStyle/>
                    <a:p>
                      <a:r>
                        <a:rPr sz="1875" b="0">
                          <a:solidFill>
                            <a:srgbClr val="172B33"/>
                          </a:solidFill>
                          <a:latin typeface="Arial"/>
                          <a:ea typeface="Arial"/>
                          <a:cs typeface="Arial"/>
                        </a:rPr>
                        <a:t>Conflicting appointment bookings</a:t>
                      </a:r>
                    </a:p>
                  </a:txBody>
                  <a:tcPr marL="91440" marR="91440" marT="45720" marB="45720">
                    <a:solidFill>
                      <a:srgbClr val="EDF4F5"/>
                    </a:solidFill>
                  </a:tcPr>
                </a:tc>
                <a:tc>
                  <a:txBody>
                    <a:bodyPr/>
                    <a:lstStyle/>
                    <a:p>
                      <a:r>
                        <a:rPr sz="1875" b="0">
                          <a:solidFill>
                            <a:srgbClr val="172B33"/>
                          </a:solidFill>
                          <a:latin typeface="Arial"/>
                          <a:ea typeface="Arial"/>
                          <a:cs typeface="Arial"/>
                        </a:rPr>
                        <a:t>Server-side overlap checks and transaction coordination</a:t>
                      </a:r>
                    </a:p>
                  </a:txBody>
                  <a:tcPr marL="91440" marR="91440" marT="45720" marB="45720">
                    <a:solidFill>
                      <a:srgbClr val="EDF4F5"/>
                    </a:solidFill>
                  </a:tcPr>
                </a:tc>
              </a:tr>
              <a:tr h="742950">
                <a:tc>
                  <a:txBody>
                    <a:bodyPr/>
                    <a:lstStyle/>
                    <a:p>
                      <a:r>
                        <a:rPr sz="1875" b="0">
                          <a:solidFill>
                            <a:srgbClr val="172B33"/>
                          </a:solidFill>
                          <a:latin typeface="Arial"/>
                          <a:ea typeface="Arial"/>
                          <a:cs typeface="Arial"/>
                        </a:rPr>
                        <a:t>Duplicate automatic reminders</a:t>
                      </a:r>
                    </a:p>
                  </a:txBody>
                  <a:tcPr marL="91440" marR="91440" marT="45720" marB="45720">
                    <a:solidFill>
                      <a:srgbClr val="FFFFFF"/>
                    </a:solidFill>
                  </a:tcPr>
                </a:tc>
                <a:tc>
                  <a:txBody>
                    <a:bodyPr/>
                    <a:lstStyle/>
                    <a:p>
                      <a:r>
                        <a:rPr sz="1875" b="0">
                          <a:solidFill>
                            <a:srgbClr val="172B33"/>
                          </a:solidFill>
                          <a:latin typeface="Arial"/>
                          <a:ea typeface="Arial"/>
                          <a:cs typeface="Arial"/>
                        </a:rPr>
                        <a:t>Per-recipient delivery state and retry behavior</a:t>
                      </a:r>
                    </a:p>
                  </a:txBody>
                  <a:tcPr marL="91440" marR="91440" marT="45720" marB="45720">
                    <a:solidFill>
                      <a:srgbClr val="FFFFFF"/>
                    </a:solidFill>
                  </a:tcPr>
                </a:tc>
              </a:tr>
              <a:tr h="742950">
                <a:tc>
                  <a:txBody>
                    <a:bodyPr/>
                    <a:lstStyle/>
                    <a:p>
                      <a:r>
                        <a:rPr sz="1875" b="0">
                          <a:solidFill>
                            <a:srgbClr val="172B33"/>
                          </a:solidFill>
                          <a:latin typeface="Arial"/>
                          <a:ea typeface="Arial"/>
                          <a:cs typeface="Arial"/>
                        </a:rPr>
                        <a:t>Database administration and persistence</a:t>
                      </a:r>
                    </a:p>
                  </a:txBody>
                  <a:tcPr marL="91440" marR="91440" marT="45720" marB="45720">
                    <a:solidFill>
                      <a:srgbClr val="EDF4F5"/>
                    </a:solidFill>
                  </a:tcPr>
                </a:tc>
                <a:tc>
                  <a:txBody>
                    <a:bodyPr/>
                    <a:lstStyle/>
                    <a:p>
                      <a:r>
                        <a:rPr sz="1875" b="0">
                          <a:solidFill>
                            <a:srgbClr val="172B33"/>
                          </a:solidFill>
                          <a:latin typeface="Arial"/>
                          <a:ea typeface="Arial"/>
                          <a:cs typeface="Arial"/>
                        </a:rPr>
                        <a:t>PostgreSQL storage with Prisma schema migrations</a:t>
                      </a:r>
                    </a:p>
                  </a:txBody>
                  <a:tcPr marL="91440" marR="91440" marT="45720" marB="45720">
                    <a:solidFill>
                      <a:srgbClr val="EDF4F5"/>
                    </a:solidFill>
                  </a:tcPr>
                </a:tc>
              </a:tr>
            </a:tbl>
          </a:graphicData>
        </a:graphic>
      </p:graphicFrame>
      <p:sp>
        <p:nvSpPr>
          <p:cNvPr id="4" name="">
            <a:extLst xmlns:a="http://schemas.openxmlformats.org/drawingml/2006/main">
              <a:ext uri="{FF2B5EF4-FFF2-40B4-BE49-F238E27FC236}">
                <a16:creationId xmlns:a16="http://schemas.microsoft.com/office/drawing/2014/main" id="{1F6F2570-3AE7-4DBF-8723-9A529D21E1EB}"/>
              </a:ext>
            </a:extLst>
          </p:cNvPr>
          <p:cNvSpPr>
            <a:spLocks xmlns:a="http://schemas.openxmlformats.org/drawingml/2006/main" noGrp="1"/>
          </p:cNvSpPr>
          <p:nvPr/>
        </p:nvSpPr>
        <p:spPr>
          <a:xfrm xmlns:a="http://schemas.openxmlformats.org/drawingml/2006/main">
            <a:off x="609600" y="5715000"/>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64B16"/>
                </a:solidFill>
                <a:latin typeface="Arial"/>
                <a:ea typeface="Arial"/>
                <a:cs typeface="Arial"/>
              </a:defRPr>
            </a:pPr>
            <a:r>
              <a:rPr sz="1725" b="0">
                <a:solidFill>
                  <a:srgbClr val="A64B16"/>
                </a:solidFill>
                <a:latin typeface="Arial"/>
                <a:ea typeface="Arial"/>
                <a:cs typeface="Arial"/>
              </a:rPr>
              <a:t>Remaining risk: external email delivery and database persistence are not one atomic transaction.</a:t>
            </a:r>
          </a:p>
        </p:txBody>
      </p:sp>
    </p:spTree>
    <p:extLst>
      <p:ext uri="{BB962C8B-B14F-4D97-AF65-F5344CB8AC3E}">
        <p14:creationId xmlns:p14="http://schemas.microsoft.com/office/powerpoint/2010/main" val="8811088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3A0410-9897-4E42-891E-83481EB08C37}"/>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Feedback and resulting changes</a:t>
            </a:r>
          </a:p>
        </p:txBody>
      </p:sp>
      <p:sp>
        <p:nvSpPr>
          <p:cNvPr id="2" name="">
            <a:extLst xmlns:a="http://schemas.openxmlformats.org/drawingml/2006/main">
              <a:ext uri="{FF2B5EF4-FFF2-40B4-BE49-F238E27FC236}">
                <a16:creationId xmlns:a16="http://schemas.microsoft.com/office/drawing/2014/main" id="{9EFD20D3-B28E-4E3D-975F-821CB88E973A}"/>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07</a:t>
            </a:r>
          </a:p>
        </p:txBody>
      </p:sp>
      <p:graphicFrame>
        <p:nvGraphicFramePr>
          <p:cNvPr id="8" name=""/>
          <p:cNvGraphicFramePr/>
          <p:nvPr/>
        </p:nvGraphicFramePr>
        <p:xfrm>
          <a:off xmlns:a="http://schemas.openxmlformats.org/drawingml/2006/main" x="609600" y="1714500"/>
          <a:ext xmlns:a="http://schemas.openxmlformats.org/drawingml/2006/main" cx="10972800" cy="2952750"/>
        </p:xfrm>
        <a:graphic xmlns:a="http://schemas.openxmlformats.org/drawingml/2006/main">
          <a:graphicData uri="http://schemas.openxmlformats.org/drawingml/2006/table">
            <a:tbl>
              <a:tblPr/>
              <a:tblGrid>
                <a:gridCol w="4857750"/>
                <a:gridCol w="6115050"/>
              </a:tblGrid>
              <a:tr h="738188">
                <a:tc>
                  <a:txBody>
                    <a:bodyPr/>
                    <a:lstStyle/>
                    <a:p>
                      <a:r>
                        <a:rPr sz="1875" b="1">
                          <a:solidFill>
                            <a:srgbClr val="FFFFFF"/>
                          </a:solidFill>
                          <a:latin typeface="Arial"/>
                          <a:ea typeface="Arial"/>
                          <a:cs typeface="Arial"/>
                        </a:rPr>
                        <a:t>Recorded project request</a:t>
                      </a:r>
                    </a:p>
                  </a:txBody>
                  <a:tcPr marL="91440" marR="91440" marT="45720" marB="45720">
                    <a:solidFill>
                      <a:srgbClr val="087F8C"/>
                    </a:solidFill>
                  </a:tcPr>
                </a:tc>
                <a:tc>
                  <a:txBody>
                    <a:bodyPr/>
                    <a:lstStyle/>
                    <a:p>
                      <a:r>
                        <a:rPr sz="1875" b="1">
                          <a:solidFill>
                            <a:srgbClr val="FFFFFF"/>
                          </a:solidFill>
                          <a:latin typeface="Arial"/>
                          <a:ea typeface="Arial"/>
                          <a:cs typeface="Arial"/>
                        </a:rPr>
                        <a:t>Change in the application</a:t>
                      </a:r>
                    </a:p>
                  </a:txBody>
                  <a:tcPr marL="91440" marR="91440" marT="45720" marB="45720">
                    <a:solidFill>
                      <a:srgbClr val="087F8C"/>
                    </a:solidFill>
                  </a:tcPr>
                </a:tc>
              </a:tr>
              <a:tr h="738188">
                <a:tc>
                  <a:txBody>
                    <a:bodyPr/>
                    <a:lstStyle/>
                    <a:p>
                      <a:r>
                        <a:rPr sz="1875" b="0">
                          <a:solidFill>
                            <a:srgbClr val="172B33"/>
                          </a:solidFill>
                          <a:latin typeface="Arial"/>
                          <a:ea typeface="Arial"/>
                          <a:cs typeface="Arial"/>
                        </a:rPr>
                        <a:t>Reduce typing during registration</a:t>
                      </a:r>
                    </a:p>
                  </a:txBody>
                  <a:tcPr marL="91440" marR="91440" marT="45720" marB="45720">
                    <a:solidFill>
                      <a:srgbClr val="FFFFFF"/>
                    </a:solidFill>
                  </a:tcPr>
                </a:tc>
                <a:tc>
                  <a:txBody>
                    <a:bodyPr/>
                    <a:lstStyle/>
                    <a:p>
                      <a:r>
                        <a:rPr sz="1875" b="0">
                          <a:solidFill>
                            <a:srgbClr val="172B33"/>
                          </a:solidFill>
                          <a:latin typeface="Arial"/>
                          <a:ea typeface="Arial"/>
                          <a:cs typeface="Arial"/>
                        </a:rPr>
                        <a:t>Checkboxes, radio options and numbered clinical sections</a:t>
                      </a:r>
                    </a:p>
                  </a:txBody>
                  <a:tcPr marL="91440" marR="91440" marT="45720" marB="45720">
                    <a:solidFill>
                      <a:srgbClr val="FFFFFF"/>
                    </a:solidFill>
                  </a:tcPr>
                </a:tc>
              </a:tr>
              <a:tr h="738188">
                <a:tc>
                  <a:txBody>
                    <a:bodyPr/>
                    <a:lstStyle/>
                    <a:p>
                      <a:r>
                        <a:rPr sz="1875" b="0">
                          <a:solidFill>
                            <a:srgbClr val="172B33"/>
                          </a:solidFill>
                          <a:latin typeface="Arial"/>
                          <a:ea typeface="Arial"/>
                          <a:cs typeface="Arial"/>
                        </a:rPr>
                        <a:t>Remove unwanted SMS features</a:t>
                      </a:r>
                    </a:p>
                  </a:txBody>
                  <a:tcPr marL="91440" marR="91440" marT="45720" marB="45720">
                    <a:solidFill>
                      <a:srgbClr val="EDF4F5"/>
                    </a:solidFill>
                  </a:tcPr>
                </a:tc>
                <a:tc>
                  <a:txBody>
                    <a:bodyPr/>
                    <a:lstStyle/>
                    <a:p>
                      <a:r>
                        <a:rPr sz="1875" b="0">
                          <a:solidFill>
                            <a:srgbClr val="172B33"/>
                          </a:solidFill>
                          <a:latin typeface="Arial"/>
                          <a:ea typeface="Arial"/>
                          <a:cs typeface="Arial"/>
                        </a:rPr>
                        <a:t>Email-only reminder workflow</a:t>
                      </a:r>
                    </a:p>
                  </a:txBody>
                  <a:tcPr marL="91440" marR="91440" marT="45720" marB="45720">
                    <a:solidFill>
                      <a:srgbClr val="EDF4F5"/>
                    </a:solidFill>
                  </a:tcPr>
                </a:tc>
              </a:tr>
              <a:tr h="738188">
                <a:tc>
                  <a:txBody>
                    <a:bodyPr/>
                    <a:lstStyle/>
                    <a:p>
                      <a:r>
                        <a:rPr sz="1875" b="0">
                          <a:solidFill>
                            <a:srgbClr val="172B33"/>
                          </a:solidFill>
                          <a:latin typeface="Arial"/>
                          <a:ea typeface="Arial"/>
                          <a:cs typeface="Arial"/>
                        </a:rPr>
                        <a:t>Improve navigation and appearance</a:t>
                      </a:r>
                    </a:p>
                  </a:txBody>
                  <a:tcPr marL="91440" marR="91440" marT="45720" marB="45720">
                    <a:solidFill>
                      <a:srgbClr val="FFFFFF"/>
                    </a:solidFill>
                  </a:tcPr>
                </a:tc>
                <a:tc>
                  <a:txBody>
                    <a:bodyPr/>
                    <a:lstStyle/>
                    <a:p>
                      <a:r>
                        <a:rPr sz="1875" b="0">
                          <a:solidFill>
                            <a:srgbClr val="172B33"/>
                          </a:solidFill>
                          <a:latin typeface="Arial"/>
                          <a:ea typeface="Arial"/>
                          <a:cs typeface="Arial"/>
                        </a:rPr>
                        <a:t>Patient tabs, staged forms and synchronized themes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EC775A3-C9A7-4392-9199-9CF282255D20}"/>
              </a:ext>
            </a:extLst>
          </p:cNvPr>
          <p:cNvSpPr>
            <a:spLocks xmlns:a="http://schemas.openxmlformats.org/drawingml/2006/main" noGrp="1"/>
          </p:cNvSpPr>
          <p:nvPr/>
        </p:nvSpPr>
        <p:spPr>
          <a:xfrm xmlns:a="http://schemas.openxmlformats.org/drawingml/2006/main">
            <a:off x="609600" y="50958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Customer evidence still needs confirmation</a:t>
            </a:r>
          </a:p>
        </p:txBody>
      </p:sp>
      <p:sp>
        <p:nvSpPr>
          <p:cNvPr id="5" name="">
            <a:extLst xmlns:a="http://schemas.openxmlformats.org/drawingml/2006/main">
              <a:ext uri="{FF2B5EF4-FFF2-40B4-BE49-F238E27FC236}">
                <a16:creationId xmlns:a16="http://schemas.microsoft.com/office/drawing/2014/main" id="{4183F317-82F7-4798-9B56-95E819DF2359}"/>
              </a:ext>
            </a:extLst>
          </p:cNvPr>
          <p:cNvSpPr>
            <a:spLocks xmlns:a="http://schemas.openxmlformats.org/drawingml/2006/main" noGrp="1"/>
          </p:cNvSpPr>
          <p:nvPr/>
        </p:nvSpPr>
        <p:spPr>
          <a:xfrm xmlns:a="http://schemas.openxmlformats.org/drawingml/2006/main">
            <a:off x="609600" y="5572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64B16"/>
                </a:solidFill>
                <a:latin typeface="Arial"/>
                <a:ea typeface="Arial"/>
                <a:cs typeface="Arial"/>
              </a:defRPr>
            </a:pPr>
            <a:r>
              <a:rPr sz="1950" b="0">
                <a:solidFill>
                  <a:srgbClr val="A64B16"/>
                </a:solidFill>
                <a:latin typeface="Arial"/>
                <a:ea typeface="Arial"/>
                <a:cs typeface="Arial"/>
              </a:rPr>
              <a:t>Attach a dated clinician note, message or usability record before attributing these changes to customer feedback.</a:t>
            </a:r>
          </a:p>
        </p:txBody>
      </p:sp>
    </p:spTree>
    <p:extLst>
      <p:ext uri="{BB962C8B-B14F-4D97-AF65-F5344CB8AC3E}">
        <p14:creationId xmlns:p14="http://schemas.microsoft.com/office/powerpoint/2010/main" val="17564253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940D94-CA2A-4C5F-8C53-FE56B2A9B297}"/>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Team collaboration evidence</a:t>
            </a:r>
          </a:p>
        </p:txBody>
      </p:sp>
      <p:sp>
        <p:nvSpPr>
          <p:cNvPr id="2" name="">
            <a:extLst xmlns:a="http://schemas.openxmlformats.org/drawingml/2006/main">
              <a:ext uri="{FF2B5EF4-FFF2-40B4-BE49-F238E27FC236}">
                <a16:creationId xmlns:a16="http://schemas.microsoft.com/office/drawing/2014/main" id="{02BD28EB-8143-45C0-9C3C-68198C4763C1}"/>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08</a:t>
            </a:r>
          </a:p>
        </p:txBody>
      </p:sp>
      <p:graphicFrame>
        <p:nvGraphicFramePr>
          <p:cNvPr id="8" name=""/>
          <p:cNvGraphicFramePr/>
          <p:nvPr/>
        </p:nvGraphicFramePr>
        <p:xfrm>
          <a:off xmlns:a="http://schemas.openxmlformats.org/drawingml/2006/main" x="609600" y="1714500"/>
          <a:ext xmlns:a="http://schemas.openxmlformats.org/drawingml/2006/main" cx="10972800" cy="3000375"/>
        </p:xfrm>
        <a:graphic xmlns:a="http://schemas.openxmlformats.org/drawingml/2006/main">
          <a:graphicData uri="http://schemas.openxmlformats.org/drawingml/2006/table">
            <a:tbl>
              <a:tblPr/>
              <a:tblGrid>
                <a:gridCol w="3143250"/>
                <a:gridCol w="4953000"/>
                <a:gridCol w="2876550"/>
              </a:tblGrid>
              <a:tr h="750094">
                <a:tc>
                  <a:txBody>
                    <a:bodyPr/>
                    <a:lstStyle/>
                    <a:p>
                      <a:r>
                        <a:rPr sz="1725" b="1">
                          <a:solidFill>
                            <a:srgbClr val="FFFFFF"/>
                          </a:solidFill>
                          <a:latin typeface="Arial"/>
                          <a:ea typeface="Arial"/>
                          <a:cs typeface="Arial"/>
                        </a:rPr>
                        <a:t>Git commit author</a:t>
                      </a:r>
                    </a:p>
                  </a:txBody>
                  <a:tcPr marL="91440" marR="91440" marT="45720" marB="45720">
                    <a:solidFill>
                      <a:srgbClr val="087F8C"/>
                    </a:solidFill>
                  </a:tcPr>
                </a:tc>
                <a:tc>
                  <a:txBody>
                    <a:bodyPr/>
                    <a:lstStyle/>
                    <a:p>
                      <a:r>
                        <a:rPr sz="1725" b="1">
                          <a:solidFill>
                            <a:srgbClr val="FFFFFF"/>
                          </a:solidFill>
                          <a:latin typeface="Arial"/>
                          <a:ea typeface="Arial"/>
                          <a:cs typeface="Arial"/>
                        </a:rPr>
                        <a:t>Selected contribution</a:t>
                      </a:r>
                    </a:p>
                  </a:txBody>
                  <a:tcPr marL="91440" marR="91440" marT="45720" marB="45720">
                    <a:solidFill>
                      <a:srgbClr val="087F8C"/>
                    </a:solidFill>
                  </a:tcPr>
                </a:tc>
                <a:tc>
                  <a:txBody>
                    <a:bodyPr/>
                    <a:lstStyle/>
                    <a:p>
                      <a:r>
                        <a:rPr sz="1725" b="1">
                          <a:solidFill>
                            <a:srgbClr val="FFFFFF"/>
                          </a:solidFill>
                          <a:latin typeface="Arial"/>
                          <a:ea typeface="Arial"/>
                          <a:cs typeface="Arial"/>
                        </a:rPr>
                        <a:t>Date / commit</a:t>
                      </a:r>
                    </a:p>
                  </a:txBody>
                  <a:tcPr marL="91440" marR="91440" marT="45720" marB="45720">
                    <a:solidFill>
                      <a:srgbClr val="087F8C"/>
                    </a:solidFill>
                  </a:tcPr>
                </a:tc>
              </a:tr>
              <a:tr h="750094">
                <a:tc>
                  <a:txBody>
                    <a:bodyPr/>
                    <a:lstStyle/>
                    <a:p>
                      <a:r>
                        <a:rPr sz="1725" b="0">
                          <a:solidFill>
                            <a:srgbClr val="172B33"/>
                          </a:solidFill>
                          <a:latin typeface="Arial"/>
                          <a:ea typeface="Arial"/>
                          <a:cs typeface="Arial"/>
                        </a:rPr>
                        <a:t>Nirod Nikeshala</a:t>
                      </a:r>
                    </a:p>
                  </a:txBody>
                  <a:tcPr marL="91440" marR="91440" marT="45720" marB="45720">
                    <a:solidFill>
                      <a:srgbClr val="FFFFFF"/>
                    </a:solidFill>
                  </a:tcPr>
                </a:tc>
                <a:tc>
                  <a:txBody>
                    <a:bodyPr/>
                    <a:lstStyle/>
                    <a:p>
                      <a:r>
                        <a:rPr sz="1725" b="0">
                          <a:solidFill>
                            <a:srgbClr val="172B33"/>
                          </a:solidFill>
                          <a:latin typeface="Arial"/>
                          <a:ea typeface="Arial"/>
                          <a:cs typeface="Arial"/>
                        </a:rPr>
                        <a:t>Add frontend and backend</a:t>
                      </a:r>
                    </a:p>
                  </a:txBody>
                  <a:tcPr marL="91440" marR="91440" marT="45720" marB="45720">
                    <a:solidFill>
                      <a:srgbClr val="FFFFFF"/>
                    </a:solidFill>
                  </a:tcPr>
                </a:tc>
                <a:tc>
                  <a:txBody>
                    <a:bodyPr/>
                    <a:lstStyle/>
                    <a:p>
                      <a:r>
                        <a:rPr sz="1725" b="0">
                          <a:solidFill>
                            <a:srgbClr val="172B33"/>
                          </a:solidFill>
                          <a:latin typeface="Arial"/>
                          <a:ea typeface="Arial"/>
                          <a:cs typeface="Arial"/>
                        </a:rPr>
                        <a:t>02 May 2026 / 4b0e22c</a:t>
                      </a:r>
                    </a:p>
                  </a:txBody>
                  <a:tcPr marL="91440" marR="91440" marT="45720" marB="45720">
                    <a:solidFill>
                      <a:srgbClr val="FFFFFF"/>
                    </a:solidFill>
                  </a:tcPr>
                </a:tc>
              </a:tr>
              <a:tr h="750094">
                <a:tc>
                  <a:txBody>
                    <a:bodyPr/>
                    <a:lstStyle/>
                    <a:p>
                      <a:r>
                        <a:rPr sz="1725" b="0">
                          <a:solidFill>
                            <a:srgbClr val="172B33"/>
                          </a:solidFill>
                          <a:latin typeface="Arial"/>
                          <a:ea typeface="Arial"/>
                          <a:cs typeface="Arial"/>
                        </a:rPr>
                        <a:t>SAAnudaUpek</a:t>
                      </a:r>
                    </a:p>
                  </a:txBody>
                  <a:tcPr marL="91440" marR="91440" marT="45720" marB="45720">
                    <a:solidFill>
                      <a:srgbClr val="EDF4F5"/>
                    </a:solidFill>
                  </a:tcPr>
                </a:tc>
                <a:tc>
                  <a:txBody>
                    <a:bodyPr/>
                    <a:lstStyle/>
                    <a:p>
                      <a:r>
                        <a:rPr sz="1725" b="0">
                          <a:solidFill>
                            <a:srgbClr val="172B33"/>
                          </a:solidFill>
                          <a:latin typeface="Arial"/>
                          <a:ea typeface="Arial"/>
                          <a:cs typeface="Arial"/>
                        </a:rPr>
                        <a:t>Student dashboard and patient list</a:t>
                      </a:r>
                    </a:p>
                  </a:txBody>
                  <a:tcPr marL="91440" marR="91440" marT="45720" marB="45720">
                    <a:solidFill>
                      <a:srgbClr val="EDF4F5"/>
                    </a:solidFill>
                  </a:tcPr>
                </a:tc>
                <a:tc>
                  <a:txBody>
                    <a:bodyPr/>
                    <a:lstStyle/>
                    <a:p>
                      <a:r>
                        <a:rPr sz="1725" b="0">
                          <a:solidFill>
                            <a:srgbClr val="172B33"/>
                          </a:solidFill>
                          <a:latin typeface="Arial"/>
                          <a:ea typeface="Arial"/>
                          <a:cs typeface="Arial"/>
                        </a:rPr>
                        <a:t>03 May 2026 / 209f707</a:t>
                      </a:r>
                    </a:p>
                  </a:txBody>
                  <a:tcPr marL="91440" marR="91440" marT="45720" marB="45720">
                    <a:solidFill>
                      <a:srgbClr val="EDF4F5"/>
                    </a:solidFill>
                  </a:tcPr>
                </a:tc>
              </a:tr>
              <a:tr h="750094">
                <a:tc>
                  <a:txBody>
                    <a:bodyPr/>
                    <a:lstStyle/>
                    <a:p>
                      <a:r>
                        <a:rPr sz="1725" b="0">
                          <a:solidFill>
                            <a:srgbClr val="172B33"/>
                          </a:solidFill>
                          <a:latin typeface="Arial"/>
                          <a:ea typeface="Arial"/>
                          <a:cs typeface="Arial"/>
                        </a:rPr>
                        <a:t>Damuthu Thotagamuwa</a:t>
                      </a:r>
                    </a:p>
                  </a:txBody>
                  <a:tcPr marL="91440" marR="91440" marT="45720" marB="45720">
                    <a:solidFill>
                      <a:srgbClr val="FFFFFF"/>
                    </a:solidFill>
                  </a:tcPr>
                </a:tc>
                <a:tc>
                  <a:txBody>
                    <a:bodyPr/>
                    <a:lstStyle/>
                    <a:p>
                      <a:r>
                        <a:rPr sz="1725" b="0">
                          <a:solidFill>
                            <a:srgbClr val="172B33"/>
                          </a:solidFill>
                          <a:latin typeface="Arial"/>
                          <a:ea typeface="Arial"/>
                          <a:cs typeface="Arial"/>
                        </a:rPr>
                        <a:t>Update backend and frontend</a:t>
                      </a:r>
                    </a:p>
                  </a:txBody>
                  <a:tcPr marL="91440" marR="91440" marT="45720" marB="45720">
                    <a:solidFill>
                      <a:srgbClr val="FFFFFF"/>
                    </a:solidFill>
                  </a:tcPr>
                </a:tc>
                <a:tc>
                  <a:txBody>
                    <a:bodyPr/>
                    <a:lstStyle/>
                    <a:p>
                      <a:r>
                        <a:rPr sz="1725" b="0">
                          <a:solidFill>
                            <a:srgbClr val="172B33"/>
                          </a:solidFill>
                          <a:latin typeface="Arial"/>
                          <a:ea typeface="Arial"/>
                          <a:cs typeface="Arial"/>
                        </a:rPr>
                        <a:t>03 May 2026 / 1fe6eda</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55CD741-D136-4B55-B4DB-BA56013029E0}"/>
              </a:ext>
            </a:extLst>
          </p:cNvPr>
          <p:cNvSpPr>
            <a:spLocks xmlns:a="http://schemas.openxmlformats.org/drawingml/2006/main" noGrp="1"/>
          </p:cNvSpPr>
          <p:nvPr/>
        </p:nvSpPr>
        <p:spPr>
          <a:xfrm xmlns:a="http://schemas.openxmlformats.org/drawingml/2006/main">
            <a:off x="609600" y="5048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Shared repository and individual portfolios</a:t>
            </a:r>
          </a:p>
        </p:txBody>
      </p:sp>
      <p:sp>
        <p:nvSpPr>
          <p:cNvPr id="5" name="">
            <a:extLst xmlns:a="http://schemas.openxmlformats.org/drawingml/2006/main">
              <a:ext uri="{FF2B5EF4-FFF2-40B4-BE49-F238E27FC236}">
                <a16:creationId xmlns:a16="http://schemas.microsoft.com/office/drawing/2014/main" id="{D367B4CA-9254-458B-A6EE-5248BD433EDF}"/>
              </a:ext>
            </a:extLst>
          </p:cNvPr>
          <p:cNvSpPr>
            <a:spLocks xmlns:a="http://schemas.openxmlformats.org/drawingml/2006/main" noGrp="1"/>
          </p:cNvSpPr>
          <p:nvPr/>
        </p:nvSpPr>
        <p:spPr>
          <a:xfrm xmlns:a="http://schemas.openxmlformats.org/drawingml/2006/main">
            <a:off x="609600" y="55435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2B33"/>
                </a:solidFill>
                <a:latin typeface="Arial"/>
                <a:ea typeface="Arial"/>
                <a:cs typeface="Arial"/>
              </a:defRPr>
            </a:pPr>
            <a:r>
              <a:rPr sz="1800" b="0">
                <a:solidFill>
                  <a:srgbClr val="172B33"/>
                </a:solidFill>
                <a:latin typeface="Arial"/>
                <a:ea typeface="Arial"/>
                <a:cs typeface="Arial"/>
              </a:rPr>
              <a:t>github.com/cepdnaclk/e23-co2060-OrthoFlow</a:t>
            </a:r>
          </a:p>
          <a:p xmlns:a="http://schemas.openxmlformats.org/drawingml/2006/main">
            <a:pPr>
              <a:defRPr sz="1800" b="0">
                <a:solidFill>
                  <a:srgbClr val="172B33"/>
                </a:solidFill>
                <a:latin typeface="Arial"/>
                <a:ea typeface="Arial"/>
                <a:cs typeface="Arial"/>
              </a:defRPr>
            </a:pPr>
            <a:r>
              <a:rPr sz="1800" b="0">
                <a:solidFill>
                  <a:srgbClr val="172B33"/>
                </a:solidFill>
                <a:latin typeface="Arial"/>
                <a:ea typeface="Arial"/>
                <a:cs typeface="Arial"/>
              </a:rPr>
              <a:t>Portfolios: thecn.com/SU528  |  DT965  |  GM772</a:t>
            </a:r>
          </a:p>
        </p:txBody>
      </p:sp>
    </p:spTree>
    <p:extLst>
      <p:ext uri="{BB962C8B-B14F-4D97-AF65-F5344CB8AC3E}">
        <p14:creationId xmlns:p14="http://schemas.microsoft.com/office/powerpoint/2010/main" val="3096710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F00F55E-0EB6-4856-8C84-BA23430D7438}"/>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Testing approach and tools</a:t>
            </a:r>
          </a:p>
        </p:txBody>
      </p:sp>
      <p:sp>
        <p:nvSpPr>
          <p:cNvPr id="2" name="">
            <a:extLst xmlns:a="http://schemas.openxmlformats.org/drawingml/2006/main">
              <a:ext uri="{FF2B5EF4-FFF2-40B4-BE49-F238E27FC236}">
                <a16:creationId xmlns:a16="http://schemas.microsoft.com/office/drawing/2014/main" id="{50D9805B-9F85-4DB2-A5F5-2CAF2A5C853D}"/>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09</a:t>
            </a:r>
          </a:p>
        </p:txBody>
      </p:sp>
      <p:graphicFrame>
        <p:nvGraphicFramePr>
          <p:cNvPr id="7" name=""/>
          <p:cNvGraphicFramePr/>
          <p:nvPr/>
        </p:nvGraphicFramePr>
        <p:xfrm>
          <a:off xmlns:a="http://schemas.openxmlformats.org/drawingml/2006/main" x="609600" y="1714500"/>
          <a:ext xmlns:a="http://schemas.openxmlformats.org/drawingml/2006/main" cx="10972800" cy="3714750"/>
        </p:xfrm>
        <a:graphic xmlns:a="http://schemas.openxmlformats.org/drawingml/2006/main">
          <a:graphicData uri="http://schemas.openxmlformats.org/drawingml/2006/table">
            <a:tbl>
              <a:tblPr/>
              <a:tblGrid>
                <a:gridCol w="2143125"/>
                <a:gridCol w="3619500"/>
                <a:gridCol w="5210175"/>
              </a:tblGrid>
              <a:tr h="742950">
                <a:tc>
                  <a:txBody>
                    <a:bodyPr/>
                    <a:lstStyle/>
                    <a:p>
                      <a:r>
                        <a:rPr sz="1725" b="1">
                          <a:solidFill>
                            <a:srgbClr val="FFFFFF"/>
                          </a:solidFill>
                          <a:latin typeface="Arial"/>
                          <a:ea typeface="Arial"/>
                          <a:cs typeface="Arial"/>
                        </a:rPr>
                        <a:t>Level</a:t>
                      </a:r>
                    </a:p>
                  </a:txBody>
                  <a:tcPr marL="91440" marR="91440" marT="45720" marB="45720">
                    <a:solidFill>
                      <a:srgbClr val="087F8C"/>
                    </a:solidFill>
                  </a:tcPr>
                </a:tc>
                <a:tc>
                  <a:txBody>
                    <a:bodyPr/>
                    <a:lstStyle/>
                    <a:p>
                      <a:r>
                        <a:rPr sz="1725" b="1">
                          <a:solidFill>
                            <a:srgbClr val="FFFFFF"/>
                          </a:solidFill>
                          <a:latin typeface="Arial"/>
                          <a:ea typeface="Arial"/>
                          <a:cs typeface="Arial"/>
                        </a:rPr>
                        <a:t>Tools</a:t>
                      </a:r>
                    </a:p>
                  </a:txBody>
                  <a:tcPr marL="91440" marR="91440" marT="45720" marB="45720">
                    <a:solidFill>
                      <a:srgbClr val="087F8C"/>
                    </a:solidFill>
                  </a:tcPr>
                </a:tc>
                <a:tc>
                  <a:txBody>
                    <a:bodyPr/>
                    <a:lstStyle/>
                    <a:p>
                      <a:r>
                        <a:rPr sz="1725" b="1">
                          <a:solidFill>
                            <a:srgbClr val="FFFFFF"/>
                          </a:solidFill>
                          <a:latin typeface="Arial"/>
                          <a:ea typeface="Arial"/>
                          <a:cs typeface="Arial"/>
                        </a:rPr>
                        <a:t>What it checks</a:t>
                      </a:r>
                    </a:p>
                  </a:txBody>
                  <a:tcPr marL="91440" marR="91440" marT="45720" marB="45720">
                    <a:solidFill>
                      <a:srgbClr val="087F8C"/>
                    </a:solidFill>
                  </a:tcPr>
                </a:tc>
              </a:tr>
              <a:tr h="742950">
                <a:tc>
                  <a:txBody>
                    <a:bodyPr/>
                    <a:lstStyle/>
                    <a:p>
                      <a:r>
                        <a:rPr sz="1725" b="0">
                          <a:solidFill>
                            <a:srgbClr val="172B33"/>
                          </a:solidFill>
                          <a:latin typeface="Arial"/>
                          <a:ea typeface="Arial"/>
                          <a:cs typeface="Arial"/>
                        </a:rPr>
                        <a:t>Unit</a:t>
                      </a:r>
                    </a:p>
                  </a:txBody>
                  <a:tcPr marL="91440" marR="91440" marT="45720" marB="45720">
                    <a:solidFill>
                      <a:srgbClr val="FFFFFF"/>
                    </a:solidFill>
                  </a:tcPr>
                </a:tc>
                <a:tc>
                  <a:txBody>
                    <a:bodyPr/>
                    <a:lstStyle/>
                    <a:p>
                      <a:r>
                        <a:rPr sz="1725" b="0">
                          <a:solidFill>
                            <a:srgbClr val="172B33"/>
                          </a:solidFill>
                          <a:latin typeface="Arial"/>
                          <a:ea typeface="Arial"/>
                          <a:cs typeface="Arial"/>
                        </a:rPr>
                        <a:t>Node test runner and assert</a:t>
                      </a:r>
                    </a:p>
                  </a:txBody>
                  <a:tcPr marL="91440" marR="91440" marT="45720" marB="45720">
                    <a:solidFill>
                      <a:srgbClr val="FFFFFF"/>
                    </a:solidFill>
                  </a:tcPr>
                </a:tc>
                <a:tc>
                  <a:txBody>
                    <a:bodyPr/>
                    <a:lstStyle/>
                    <a:p>
                      <a:r>
                        <a:rPr sz="1725" b="0">
                          <a:solidFill>
                            <a:srgbClr val="172B33"/>
                          </a:solidFill>
                          <a:latin typeface="Arial"/>
                          <a:ea typeface="Arial"/>
                          <a:cs typeface="Arial"/>
                        </a:rPr>
                        <a:t>Validation, reminders and test DB guard</a:t>
                      </a:r>
                    </a:p>
                  </a:txBody>
                  <a:tcPr marL="91440" marR="91440" marT="45720" marB="45720">
                    <a:solidFill>
                      <a:srgbClr val="FFFFFF"/>
                    </a:solidFill>
                  </a:tcPr>
                </a:tc>
              </a:tr>
              <a:tr h="742950">
                <a:tc>
                  <a:txBody>
                    <a:bodyPr/>
                    <a:lstStyle/>
                    <a:p>
                      <a:r>
                        <a:rPr sz="1725" b="0">
                          <a:solidFill>
                            <a:srgbClr val="172B33"/>
                          </a:solidFill>
                          <a:latin typeface="Arial"/>
                          <a:ea typeface="Arial"/>
                          <a:cs typeface="Arial"/>
                        </a:rPr>
                        <a:t>API integration</a:t>
                      </a:r>
                    </a:p>
                  </a:txBody>
                  <a:tcPr marL="91440" marR="91440" marT="45720" marB="45720">
                    <a:solidFill>
                      <a:srgbClr val="EDF4F5"/>
                    </a:solidFill>
                  </a:tcPr>
                </a:tc>
                <a:tc>
                  <a:txBody>
                    <a:bodyPr/>
                    <a:lstStyle/>
                    <a:p>
                      <a:r>
                        <a:rPr sz="1725" b="0">
                          <a:solidFill>
                            <a:srgbClr val="172B33"/>
                          </a:solidFill>
                          <a:latin typeface="Arial"/>
                          <a:ea typeface="Arial"/>
                          <a:cs typeface="Arial"/>
                        </a:rPr>
                        <a:t>Express, Prisma, PostgreSQL</a:t>
                      </a:r>
                    </a:p>
                  </a:txBody>
                  <a:tcPr marL="91440" marR="91440" marT="45720" marB="45720">
                    <a:solidFill>
                      <a:srgbClr val="EDF4F5"/>
                    </a:solidFill>
                  </a:tcPr>
                </a:tc>
                <a:tc>
                  <a:txBody>
                    <a:bodyPr/>
                    <a:lstStyle/>
                    <a:p>
                      <a:r>
                        <a:rPr sz="1725" b="0">
                          <a:solidFill>
                            <a:srgbClr val="172B33"/>
                          </a:solidFill>
                          <a:latin typeface="Arial"/>
                          <a:ea typeface="Arial"/>
                          <a:cs typeface="Arial"/>
                        </a:rPr>
                        <a:t>Persistence, permissions and conflicts</a:t>
                      </a:r>
                    </a:p>
                  </a:txBody>
                  <a:tcPr marL="91440" marR="91440" marT="45720" marB="45720">
                    <a:solidFill>
                      <a:srgbClr val="EDF4F5"/>
                    </a:solidFill>
                  </a:tcPr>
                </a:tc>
              </a:tr>
              <a:tr h="742950">
                <a:tc>
                  <a:txBody>
                    <a:bodyPr/>
                    <a:lstStyle/>
                    <a:p>
                      <a:r>
                        <a:rPr sz="1725" b="0">
                          <a:solidFill>
                            <a:srgbClr val="172B33"/>
                          </a:solidFill>
                          <a:latin typeface="Arial"/>
                          <a:ea typeface="Arial"/>
                          <a:cs typeface="Arial"/>
                        </a:rPr>
                        <a:t>Browser</a:t>
                      </a:r>
                    </a:p>
                  </a:txBody>
                  <a:tcPr marL="91440" marR="91440" marT="45720" marB="45720">
                    <a:solidFill>
                      <a:srgbClr val="FFFFFF"/>
                    </a:solidFill>
                  </a:tcPr>
                </a:tc>
                <a:tc>
                  <a:txBody>
                    <a:bodyPr/>
                    <a:lstStyle/>
                    <a:p>
                      <a:r>
                        <a:rPr sz="1725" b="0">
                          <a:solidFill>
                            <a:srgbClr val="172B33"/>
                          </a:solidFill>
                          <a:latin typeface="Arial"/>
                          <a:ea typeface="Arial"/>
                          <a:cs typeface="Arial"/>
                        </a:rPr>
                        <a:t>Playwright with Edge</a:t>
                      </a:r>
                    </a:p>
                  </a:txBody>
                  <a:tcPr marL="91440" marR="91440" marT="45720" marB="45720">
                    <a:solidFill>
                      <a:srgbClr val="FFFFFF"/>
                    </a:solidFill>
                  </a:tcPr>
                </a:tc>
                <a:tc>
                  <a:txBody>
                    <a:bodyPr/>
                    <a:lstStyle/>
                    <a:p>
                      <a:r>
                        <a:rPr sz="1725" b="0">
                          <a:solidFill>
                            <a:srgbClr val="172B33"/>
                          </a:solidFill>
                          <a:latin typeface="Arial"/>
                          <a:ea typeface="Arial"/>
                          <a:cs typeface="Arial"/>
                        </a:rPr>
                        <a:t>Registration, clinical workflows and calendar</a:t>
                      </a:r>
                    </a:p>
                  </a:txBody>
                  <a:tcPr marL="91440" marR="91440" marT="45720" marB="45720">
                    <a:solidFill>
                      <a:srgbClr val="FFFFFF"/>
                    </a:solidFill>
                  </a:tcPr>
                </a:tc>
              </a:tr>
              <a:tr h="742950">
                <a:tc>
                  <a:txBody>
                    <a:bodyPr/>
                    <a:lstStyle/>
                    <a:p>
                      <a:r>
                        <a:rPr sz="1725" b="0">
                          <a:solidFill>
                            <a:srgbClr val="172B33"/>
                          </a:solidFill>
                          <a:latin typeface="Arial"/>
                          <a:ea typeface="Arial"/>
                          <a:cs typeface="Arial"/>
                        </a:rPr>
                        <a:t>Build and manual</a:t>
                      </a:r>
                    </a:p>
                  </a:txBody>
                  <a:tcPr marL="91440" marR="91440" marT="45720" marB="45720">
                    <a:solidFill>
                      <a:srgbClr val="EDF4F5"/>
                    </a:solidFill>
                  </a:tcPr>
                </a:tc>
                <a:tc>
                  <a:txBody>
                    <a:bodyPr/>
                    <a:lstStyle/>
                    <a:p>
                      <a:r>
                        <a:rPr sz="1725" b="0">
                          <a:solidFill>
                            <a:srgbClr val="172B33"/>
                          </a:solidFill>
                          <a:latin typeface="Arial"/>
                          <a:ea typeface="Arial"/>
                          <a:cs typeface="Arial"/>
                        </a:rPr>
                        <a:t>Vite and recorded checklist</a:t>
                      </a:r>
                    </a:p>
                  </a:txBody>
                  <a:tcPr marL="91440" marR="91440" marT="45720" marB="45720">
                    <a:solidFill>
                      <a:srgbClr val="EDF4F5"/>
                    </a:solidFill>
                  </a:tcPr>
                </a:tc>
                <a:tc>
                  <a:txBody>
                    <a:bodyPr/>
                    <a:lstStyle/>
                    <a:p>
                      <a:r>
                        <a:rPr sz="1725" b="0">
                          <a:solidFill>
                            <a:srgbClr val="172B33"/>
                          </a:solidFill>
                          <a:latin typeface="Arial"/>
                          <a:ea typeface="Arial"/>
                          <a:cs typeface="Arial"/>
                        </a:rPr>
                        <a:t>Compilation and planned human acceptance</a:t>
                      </a:r>
                    </a:p>
                  </a:txBody>
                  <a:tcPr marL="91440" marR="91440" marT="45720" marB="45720">
                    <a:solidFill>
                      <a:srgbClr val="EDF4F5"/>
                    </a:solidFill>
                  </a:tcPr>
                </a:tc>
              </a:tr>
            </a:tbl>
          </a:graphicData>
        </a:graphic>
      </p:graphicFrame>
      <p:sp>
        <p:nvSpPr>
          <p:cNvPr id="4" name="">
            <a:extLst xmlns:a="http://schemas.openxmlformats.org/drawingml/2006/main">
              <a:ext uri="{FF2B5EF4-FFF2-40B4-BE49-F238E27FC236}">
                <a16:creationId xmlns:a16="http://schemas.microsoft.com/office/drawing/2014/main" id="{F8A27058-E934-40EF-9BEF-02E7386855AB}"/>
              </a:ext>
            </a:extLst>
          </p:cNvPr>
          <p:cNvSpPr>
            <a:spLocks xmlns:a="http://schemas.openxmlformats.org/drawingml/2006/main" noGrp="1"/>
          </p:cNvSpPr>
          <p:nvPr/>
        </p:nvSpPr>
        <p:spPr>
          <a:xfrm xmlns:a="http://schemas.openxmlformats.org/drawingml/2006/main">
            <a:off x="609600" y="57150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870"/>
                </a:solidFill>
                <a:latin typeface="Arial"/>
                <a:ea typeface="Arial"/>
                <a:cs typeface="Arial"/>
              </a:defRPr>
            </a:pPr>
            <a:r>
              <a:rPr sz="1800" b="0">
                <a:solidFill>
                  <a:srgbClr val="536870"/>
                </a:solidFill>
                <a:latin typeface="Arial"/>
                <a:ea typeface="Arial"/>
                <a:cs typeface="Arial"/>
              </a:rPr>
              <a:t>Each runner invocation saves timestamped logs and a result summary. Browser runs also save screenshots.</a:t>
            </a:r>
          </a:p>
        </p:txBody>
      </p:sp>
    </p:spTree>
    <p:extLst>
      <p:ext uri="{BB962C8B-B14F-4D97-AF65-F5344CB8AC3E}">
        <p14:creationId xmlns:p14="http://schemas.microsoft.com/office/powerpoint/2010/main" val="6758337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62B133-C315-4C8B-ADC6-522E98BA56C7}"/>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Verified automated outcomes</a:t>
            </a:r>
          </a:p>
        </p:txBody>
      </p:sp>
      <p:sp>
        <p:nvSpPr>
          <p:cNvPr id="2" name="">
            <a:extLst xmlns:a="http://schemas.openxmlformats.org/drawingml/2006/main">
              <a:ext uri="{FF2B5EF4-FFF2-40B4-BE49-F238E27FC236}">
                <a16:creationId xmlns:a16="http://schemas.microsoft.com/office/drawing/2014/main" id="{B8F14E38-690B-4C85-82E8-EC4DA3500FE6}"/>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AEE3E415-40AC-4C90-A544-F913C93AABB6}"/>
              </a:ext>
            </a:extLst>
          </p:cNvPr>
          <p:cNvSpPr>
            <a:spLocks xmlns:a="http://schemas.openxmlformats.org/drawingml/2006/main" noGrp="1"/>
          </p:cNvSpPr>
          <p:nvPr/>
        </p:nvSpPr>
        <p:spPr>
          <a:xfrm xmlns:a="http://schemas.openxmlformats.org/drawingml/2006/main">
            <a:off x="609600" y="161925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87F8C"/>
                </a:solidFill>
                <a:latin typeface="Arial"/>
                <a:ea typeface="Arial"/>
                <a:cs typeface="Arial"/>
              </a:defRPr>
            </a:pPr>
            <a:r>
              <a:rPr sz="5850" b="1">
                <a:solidFill>
                  <a:srgbClr val="087F8C"/>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A704DA3-8373-4421-B13F-3A55DEFC4F8F}"/>
              </a:ext>
            </a:extLst>
          </p:cNvPr>
          <p:cNvSpPr>
            <a:spLocks xmlns:a="http://schemas.openxmlformats.org/drawingml/2006/main" noGrp="1"/>
          </p:cNvSpPr>
          <p:nvPr/>
        </p:nvSpPr>
        <p:spPr>
          <a:xfrm xmlns:a="http://schemas.openxmlformats.org/drawingml/2006/main">
            <a:off x="609600" y="264795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unit tests passed</a:t>
            </a:r>
          </a:p>
        </p:txBody>
      </p:sp>
      <p:sp>
        <p:nvSpPr>
          <p:cNvPr id="5" name="">
            <a:extLst xmlns:a="http://schemas.openxmlformats.org/drawingml/2006/main">
              <a:ext uri="{FF2B5EF4-FFF2-40B4-BE49-F238E27FC236}">
                <a16:creationId xmlns:a16="http://schemas.microsoft.com/office/drawing/2014/main" id="{4AB7DDA1-E730-4FCB-B2ED-3DA62C8D8CC7}"/>
              </a:ext>
            </a:extLst>
          </p:cNvPr>
          <p:cNvSpPr>
            <a:spLocks xmlns:a="http://schemas.openxmlformats.org/drawingml/2006/main" noGrp="1"/>
          </p:cNvSpPr>
          <p:nvPr/>
        </p:nvSpPr>
        <p:spPr>
          <a:xfrm xmlns:a="http://schemas.openxmlformats.org/drawingml/2006/main">
            <a:off x="6286500" y="161925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87F8C"/>
                </a:solidFill>
                <a:latin typeface="Arial"/>
                <a:ea typeface="Arial"/>
                <a:cs typeface="Arial"/>
              </a:defRPr>
            </a:pPr>
            <a:r>
              <a:rPr sz="5850" b="1">
                <a:solidFill>
                  <a:srgbClr val="087F8C"/>
                </a:solidFill>
                <a:latin typeface="Arial"/>
                <a:ea typeface="Arial"/>
                <a:cs typeface="Arial"/>
              </a:rPr>
              <a:t>6</a:t>
            </a:r>
          </a:p>
        </p:txBody>
      </p:sp>
      <p:sp>
        <p:nvSpPr>
          <p:cNvPr id="6" name="">
            <a:extLst xmlns:a="http://schemas.openxmlformats.org/drawingml/2006/main">
              <a:ext uri="{FF2B5EF4-FFF2-40B4-BE49-F238E27FC236}">
                <a16:creationId xmlns:a16="http://schemas.microsoft.com/office/drawing/2014/main" id="{6B4AACEF-1ADF-4464-95D7-A046D16F6D1E}"/>
              </a:ext>
            </a:extLst>
          </p:cNvPr>
          <p:cNvSpPr>
            <a:spLocks xmlns:a="http://schemas.openxmlformats.org/drawingml/2006/main" noGrp="1"/>
          </p:cNvSpPr>
          <p:nvPr/>
        </p:nvSpPr>
        <p:spPr>
          <a:xfrm xmlns:a="http://schemas.openxmlformats.org/drawingml/2006/main">
            <a:off x="6286500" y="26479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browser viewport scenarios passed</a:t>
            </a:r>
          </a:p>
        </p:txBody>
      </p:sp>
      <p:graphicFrame>
        <p:nvGraphicFramePr>
          <p:cNvPr id="15" name=""/>
          <p:cNvGraphicFramePr/>
          <p:nvPr/>
        </p:nvGraphicFramePr>
        <p:xfrm>
          <a:off xmlns:a="http://schemas.openxmlformats.org/drawingml/2006/main" x="609600" y="3571875"/>
          <a:ext xmlns:a="http://schemas.openxmlformats.org/drawingml/2006/main" cx="10972800" cy="2333625"/>
        </p:xfrm>
        <a:graphic xmlns:a="http://schemas.openxmlformats.org/drawingml/2006/main">
          <a:graphicData uri="http://schemas.openxmlformats.org/drawingml/2006/table">
            <a:tbl>
              <a:tblPr/>
              <a:tblGrid>
                <a:gridCol w="5429250"/>
                <a:gridCol w="5543550"/>
              </a:tblGrid>
              <a:tr h="466725">
                <a:tc>
                  <a:txBody>
                    <a:bodyPr/>
                    <a:lstStyle/>
                    <a:p>
                      <a:r>
                        <a:rPr sz="1650" b="1">
                          <a:solidFill>
                            <a:srgbClr val="FFFFFF"/>
                          </a:solidFill>
                          <a:latin typeface="Arial"/>
                          <a:ea typeface="Arial"/>
                          <a:cs typeface="Arial"/>
                        </a:rPr>
                        <a:t>Check</a:t>
                      </a:r>
                    </a:p>
                  </a:txBody>
                  <a:tcPr marL="91440" marR="91440" marT="45720" marB="45720">
                    <a:solidFill>
                      <a:srgbClr val="087F8C"/>
                    </a:solidFill>
                  </a:tcPr>
                </a:tc>
                <a:tc>
                  <a:txBody>
                    <a:bodyPr/>
                    <a:lstStyle/>
                    <a:p>
                      <a:r>
                        <a:rPr sz="1650" b="1">
                          <a:solidFill>
                            <a:srgbClr val="FFFFFF"/>
                          </a:solidFill>
                          <a:latin typeface="Arial"/>
                          <a:ea typeface="Arial"/>
                          <a:cs typeface="Arial"/>
                        </a:rPr>
                        <a:t>Recorded outcome</a:t>
                      </a:r>
                    </a:p>
                  </a:txBody>
                  <a:tcPr marL="91440" marR="91440" marT="45720" marB="45720">
                    <a:solidFill>
                      <a:srgbClr val="087F8C"/>
                    </a:solidFill>
                  </a:tcPr>
                </a:tc>
              </a:tr>
              <a:tr h="466725">
                <a:tc>
                  <a:txBody>
                    <a:bodyPr/>
                    <a:lstStyle/>
                    <a:p>
                      <a:r>
                        <a:rPr sz="1650" b="0">
                          <a:solidFill>
                            <a:srgbClr val="172B33"/>
                          </a:solidFill>
                          <a:latin typeface="Arial"/>
                          <a:ea typeface="Arial"/>
                          <a:cs typeface="Arial"/>
                        </a:rPr>
                        <a:t>Registration and clinical workflow</a:t>
                      </a:r>
                    </a:p>
                  </a:txBody>
                  <a:tcPr marL="91440" marR="91440" marT="45720" marB="45720">
                    <a:solidFill>
                      <a:srgbClr val="FFFFFF"/>
                    </a:solidFill>
                  </a:tcPr>
                </a:tc>
                <a:tc>
                  <a:txBody>
                    <a:bodyPr/>
                    <a:lstStyle/>
                    <a:p>
                      <a:r>
                        <a:rPr sz="1650" b="0">
                          <a:solidFill>
                            <a:srgbClr val="172B33"/>
                          </a:solidFill>
                          <a:latin typeface="Arial"/>
                          <a:ea typeface="Arial"/>
                          <a:cs typeface="Arial"/>
                        </a:rPr>
                        <a:t>Passed at desktop and mobile sizes</a:t>
                      </a:r>
                    </a:p>
                  </a:txBody>
                  <a:tcPr marL="91440" marR="91440" marT="45720" marB="45720">
                    <a:solidFill>
                      <a:srgbClr val="FFFFFF"/>
                    </a:solidFill>
                  </a:tcPr>
                </a:tc>
              </a:tr>
              <a:tr h="466725">
                <a:tc>
                  <a:txBody>
                    <a:bodyPr/>
                    <a:lstStyle/>
                    <a:p>
                      <a:r>
                        <a:rPr sz="1650" b="0">
                          <a:solidFill>
                            <a:srgbClr val="172B33"/>
                          </a:solidFill>
                          <a:latin typeface="Arial"/>
                          <a:ea typeface="Arial"/>
                          <a:cs typeface="Arial"/>
                        </a:rPr>
                        <a:t>Calendar filters, retry and themes</a:t>
                      </a:r>
                    </a:p>
                  </a:txBody>
                  <a:tcPr marL="91440" marR="91440" marT="45720" marB="45720">
                    <a:solidFill>
                      <a:srgbClr val="EDF4F5"/>
                    </a:solidFill>
                  </a:tcPr>
                </a:tc>
                <a:tc>
                  <a:txBody>
                    <a:bodyPr/>
                    <a:lstStyle/>
                    <a:p>
                      <a:r>
                        <a:rPr sz="1650" b="0">
                          <a:solidFill>
                            <a:srgbClr val="172B33"/>
                          </a:solidFill>
                          <a:latin typeface="Arial"/>
                          <a:ea typeface="Arial"/>
                          <a:cs typeface="Arial"/>
                        </a:rPr>
                        <a:t>Passed at desktop and mobile sizes</a:t>
                      </a:r>
                    </a:p>
                  </a:txBody>
                  <a:tcPr marL="91440" marR="91440" marT="45720" marB="45720">
                    <a:solidFill>
                      <a:srgbClr val="EDF4F5"/>
                    </a:solidFill>
                  </a:tcPr>
                </a:tc>
              </a:tr>
              <a:tr h="466725">
                <a:tc>
                  <a:txBody>
                    <a:bodyPr/>
                    <a:lstStyle/>
                    <a:p>
                      <a:r>
                        <a:rPr sz="1650" b="0">
                          <a:solidFill>
                            <a:srgbClr val="172B33"/>
                          </a:solidFill>
                          <a:latin typeface="Arial"/>
                          <a:ea typeface="Arial"/>
                          <a:cs typeface="Arial"/>
                        </a:rPr>
                        <a:t>Production build</a:t>
                      </a:r>
                    </a:p>
                  </a:txBody>
                  <a:tcPr marL="91440" marR="91440" marT="45720" marB="45720">
                    <a:solidFill>
                      <a:srgbClr val="FFFFFF"/>
                    </a:solidFill>
                  </a:tcPr>
                </a:tc>
                <a:tc>
                  <a:txBody>
                    <a:bodyPr/>
                    <a:lstStyle/>
                    <a:p>
                      <a:r>
                        <a:rPr sz="1650" b="0">
                          <a:solidFill>
                            <a:srgbClr val="172B33"/>
                          </a:solidFill>
                          <a:latin typeface="Arial"/>
                          <a:ea typeface="Arial"/>
                          <a:cs typeface="Arial"/>
                        </a:rPr>
                        <a:t>Passed with bundle-size warning</a:t>
                      </a:r>
                    </a:p>
                  </a:txBody>
                  <a:tcPr marL="91440" marR="91440" marT="45720" marB="45720">
                    <a:solidFill>
                      <a:srgbClr val="FFFFFF"/>
                    </a:solidFill>
                  </a:tcPr>
                </a:tc>
              </a:tr>
              <a:tr h="466725">
                <a:tc>
                  <a:txBody>
                    <a:bodyPr/>
                    <a:lstStyle/>
                    <a:p>
                      <a:r>
                        <a:rPr sz="1650" b="0">
                          <a:solidFill>
                            <a:srgbClr val="172B33"/>
                          </a:solidFill>
                          <a:latin typeface="Arial"/>
                          <a:ea typeface="Arial"/>
                          <a:cs typeface="Arial"/>
                        </a:rPr>
                        <a:t>API integration functionality</a:t>
                      </a:r>
                    </a:p>
                  </a:txBody>
                  <a:tcPr marL="91440" marR="91440" marT="45720" marB="45720">
                    <a:solidFill>
                      <a:srgbClr val="EDF4F5"/>
                    </a:solidFill>
                  </a:tcPr>
                </a:tc>
                <a:tc>
                  <a:txBody>
                    <a:bodyPr/>
                    <a:lstStyle/>
                    <a:p>
                      <a:r>
                        <a:rPr sz="1650" b="0">
                          <a:solidFill>
                            <a:srgbClr val="172B33"/>
                          </a:solidFill>
                          <a:latin typeface="Arial"/>
                          <a:ea typeface="Arial"/>
                          <a:cs typeface="Arial"/>
                        </a:rPr>
                        <a:t>Not run in this verification</a:t>
                      </a:r>
                    </a:p>
                  </a:txBody>
                  <a:tcPr marL="91440" marR="91440" marT="45720" marB="45720">
                    <a:solidFill>
                      <a:srgbClr val="EDF4F5"/>
                    </a:solidFill>
                  </a:tcPr>
                </a:tc>
              </a:tr>
            </a:tbl>
          </a:graphicData>
        </a:graphic>
      </p:graphicFrame>
      <p:sp>
        <p:nvSpPr>
          <p:cNvPr id="8" name="">
            <a:extLst xmlns:a="http://schemas.openxmlformats.org/drawingml/2006/main">
              <a:ext uri="{FF2B5EF4-FFF2-40B4-BE49-F238E27FC236}">
                <a16:creationId xmlns:a16="http://schemas.microsoft.com/office/drawing/2014/main" id="{ADA00DBF-8133-4CE9-83F7-6AF8544FD83C}"/>
              </a:ext>
            </a:extLst>
          </p:cNvPr>
          <p:cNvSpPr>
            <a:spLocks xmlns:a="http://schemas.openxmlformats.org/drawingml/2006/main" noGrp="1"/>
          </p:cNvSpPr>
          <p:nvPr/>
        </p:nvSpPr>
        <p:spPr>
          <a:xfrm xmlns:a="http://schemas.openxmlformats.org/drawingml/2006/main">
            <a:off x="609600" y="611505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0"/>
                </a:solidFill>
                <a:latin typeface="Arial"/>
                <a:ea typeface="Arial"/>
                <a:cs typeface="Arial"/>
              </a:defRPr>
            </a:pPr>
            <a:r>
              <a:rPr sz="1500" b="0">
                <a:solidFill>
                  <a:srgbClr val="536870"/>
                </a:solidFill>
                <a:latin typeface="Arial"/>
                <a:ea typeface="Arial"/>
                <a:cs typeface="Arial"/>
              </a:rPr>
              <a:t>Verified run: 24 September 2026 UTC. Browser checks use mocked APIs.</a:t>
            </a:r>
          </a:p>
        </p:txBody>
      </p:sp>
    </p:spTree>
    <p:extLst>
      <p:ext uri="{BB962C8B-B14F-4D97-AF65-F5344CB8AC3E}">
        <p14:creationId xmlns:p14="http://schemas.microsoft.com/office/powerpoint/2010/main" val="10571760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73A22C-B735-4405-A33B-16E0087C5C70}"/>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Bug resolution and regression evidence</a:t>
            </a:r>
          </a:p>
        </p:txBody>
      </p:sp>
      <p:sp>
        <p:nvSpPr>
          <p:cNvPr id="2" name="">
            <a:extLst xmlns:a="http://schemas.openxmlformats.org/drawingml/2006/main">
              <a:ext uri="{FF2B5EF4-FFF2-40B4-BE49-F238E27FC236}">
                <a16:creationId xmlns:a16="http://schemas.microsoft.com/office/drawing/2014/main" id="{75F07297-7C25-4928-AF83-826EC4A89E26}"/>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11</a:t>
            </a:r>
          </a:p>
        </p:txBody>
      </p:sp>
      <p:graphicFrame>
        <p:nvGraphicFramePr>
          <p:cNvPr id="8" name=""/>
          <p:cNvGraphicFramePr/>
          <p:nvPr/>
        </p:nvGraphicFramePr>
        <p:xfrm>
          <a:off xmlns:a="http://schemas.openxmlformats.org/drawingml/2006/main" x="609600" y="1714500"/>
          <a:ext xmlns:a="http://schemas.openxmlformats.org/drawingml/2006/main" cx="10972800" cy="2571750"/>
        </p:xfrm>
        <a:graphic xmlns:a="http://schemas.openxmlformats.org/drawingml/2006/main">
          <a:graphicData uri="http://schemas.openxmlformats.org/drawingml/2006/table">
            <a:tbl>
              <a:tblPr/>
              <a:tblGrid>
                <a:gridCol w="3810000"/>
                <a:gridCol w="4476750"/>
                <a:gridCol w="2686050"/>
              </a:tblGrid>
              <a:tr h="857250">
                <a:tc>
                  <a:txBody>
                    <a:bodyPr/>
                    <a:lstStyle/>
                    <a:p>
                      <a:r>
                        <a:rPr sz="1800" b="1">
                          <a:solidFill>
                            <a:srgbClr val="FFFFFF"/>
                          </a:solidFill>
                          <a:latin typeface="Arial"/>
                          <a:ea typeface="Arial"/>
                          <a:cs typeface="Arial"/>
                        </a:rPr>
                        <a:t>Observed issue</a:t>
                      </a:r>
                    </a:p>
                  </a:txBody>
                  <a:tcPr marL="91440" marR="91440" marT="45720" marB="45720">
                    <a:solidFill>
                      <a:srgbClr val="087F8C"/>
                    </a:solidFill>
                  </a:tcPr>
                </a:tc>
                <a:tc>
                  <a:txBody>
                    <a:bodyPr/>
                    <a:lstStyle/>
                    <a:p>
                      <a:r>
                        <a:rPr sz="1800" b="1">
                          <a:solidFill>
                            <a:srgbClr val="FFFFFF"/>
                          </a:solidFill>
                          <a:latin typeface="Arial"/>
                          <a:ea typeface="Arial"/>
                          <a:cs typeface="Arial"/>
                        </a:rPr>
                        <a:t>Fix</a:t>
                      </a:r>
                    </a:p>
                  </a:txBody>
                  <a:tcPr marL="91440" marR="91440" marT="45720" marB="45720">
                    <a:solidFill>
                      <a:srgbClr val="087F8C"/>
                    </a:solidFill>
                  </a:tcPr>
                </a:tc>
                <a:tc>
                  <a:txBody>
                    <a:bodyPr/>
                    <a:lstStyle/>
                    <a:p>
                      <a:r>
                        <a:rPr sz="1800" b="1">
                          <a:solidFill>
                            <a:srgbClr val="FFFFFF"/>
                          </a:solidFill>
                          <a:latin typeface="Arial"/>
                          <a:ea typeface="Arial"/>
                          <a:cs typeface="Arial"/>
                        </a:rPr>
                        <a:t>Retest</a:t>
                      </a:r>
                    </a:p>
                  </a:txBody>
                  <a:tcPr marL="91440" marR="91440" marT="45720" marB="45720">
                    <a:solidFill>
                      <a:srgbClr val="087F8C"/>
                    </a:solidFill>
                  </a:tcPr>
                </a:tc>
              </a:tr>
              <a:tr h="857250">
                <a:tc>
                  <a:txBody>
                    <a:bodyPr/>
                    <a:lstStyle/>
                    <a:p>
                      <a:r>
                        <a:rPr sz="1800" b="0">
                          <a:solidFill>
                            <a:srgbClr val="172B33"/>
                          </a:solidFill>
                          <a:latin typeface="Arial"/>
                          <a:ea typeface="Arial"/>
                          <a:cs typeface="Arial"/>
                        </a:rPr>
                        <a:t>Calendar failed to render</a:t>
                      </a:r>
                    </a:p>
                  </a:txBody>
                  <a:tcPr marL="91440" marR="91440" marT="45720" marB="45720">
                    <a:solidFill>
                      <a:srgbClr val="FFFFFF"/>
                    </a:solidFill>
                  </a:tcPr>
                </a:tc>
                <a:tc>
                  <a:txBody>
                    <a:bodyPr/>
                    <a:lstStyle/>
                    <a:p>
                      <a:r>
                        <a:rPr sz="1800" b="0">
                          <a:solidFill>
                            <a:srgbClr val="172B33"/>
                          </a:solidFill>
                          <a:latin typeface="Arial"/>
                          <a:ea typeface="Arial"/>
                          <a:cs typeface="Arial"/>
                        </a:rPr>
                        <a:t>Aligned FullCalendar package versions</a:t>
                      </a:r>
                    </a:p>
                  </a:txBody>
                  <a:tcPr marL="91440" marR="91440" marT="45720" marB="45720">
                    <a:solidFill>
                      <a:srgbClr val="FFFFFF"/>
                    </a:solidFill>
                  </a:tcPr>
                </a:tc>
                <a:tc>
                  <a:txBody>
                    <a:bodyPr/>
                    <a:lstStyle/>
                    <a:p>
                      <a:r>
                        <a:rPr sz="1800" b="0">
                          <a:solidFill>
                            <a:srgbClr val="172B33"/>
                          </a:solidFill>
                          <a:latin typeface="Arial"/>
                          <a:ea typeface="Arial"/>
                          <a:cs typeface="Arial"/>
                        </a:rPr>
                        <a:t>Calendar suite passed</a:t>
                      </a:r>
                    </a:p>
                  </a:txBody>
                  <a:tcPr marL="91440" marR="91440" marT="45720" marB="45720">
                    <a:solidFill>
                      <a:srgbClr val="FFFFFF"/>
                    </a:solidFill>
                  </a:tcPr>
                </a:tc>
              </a:tr>
              <a:tr h="857250">
                <a:tc>
                  <a:txBody>
                    <a:bodyPr/>
                    <a:lstStyle/>
                    <a:p>
                      <a:r>
                        <a:rPr sz="1800" b="0">
                          <a:solidFill>
                            <a:srgbClr val="172B33"/>
                          </a:solidFill>
                          <a:latin typeface="Arial"/>
                          <a:ea typeface="Arial"/>
                          <a:cs typeface="Arial"/>
                        </a:rPr>
                        <a:t>Crowded mobile heading and hidden event title</a:t>
                      </a:r>
                    </a:p>
                  </a:txBody>
                  <a:tcPr marL="91440" marR="91440" marT="45720" marB="45720">
                    <a:solidFill>
                      <a:srgbClr val="EDF4F5"/>
                    </a:solidFill>
                  </a:tcPr>
                </a:tc>
                <a:tc>
                  <a:txBody>
                    <a:bodyPr/>
                    <a:lstStyle/>
                    <a:p>
                      <a:r>
                        <a:rPr sz="1800" b="0">
                          <a:solidFill>
                            <a:srgbClr val="172B33"/>
                          </a:solidFill>
                          <a:latin typeface="Arial"/>
                          <a:ea typeface="Arial"/>
                          <a:cs typeface="Arial"/>
                        </a:rPr>
                        <a:t>Wrapped heading and adjusted event layout</a:t>
                      </a:r>
                    </a:p>
                  </a:txBody>
                  <a:tcPr marL="91440" marR="91440" marT="45720" marB="45720">
                    <a:solidFill>
                      <a:srgbClr val="EDF4F5"/>
                    </a:solidFill>
                  </a:tcPr>
                </a:tc>
                <a:tc>
                  <a:txBody>
                    <a:bodyPr/>
                    <a:lstStyle/>
                    <a:p>
                      <a:r>
                        <a:rPr sz="1800" b="0">
                          <a:solidFill>
                            <a:srgbClr val="172B33"/>
                          </a:solidFill>
                          <a:latin typeface="Arial"/>
                          <a:ea typeface="Arial"/>
                          <a:cs typeface="Arial"/>
                        </a:rPr>
                        <a:t>390 px regression passed</a:t>
                      </a:r>
                    </a:p>
                  </a:txBody>
                  <a:tcPr marL="91440" marR="91440" marT="45720" marB="45720">
                    <a:solidFill>
                      <a:srgbClr val="EDF4F5"/>
                    </a:solidFill>
                  </a:tcPr>
                </a:tc>
              </a:tr>
            </a:tbl>
          </a:graphicData>
        </a:graphic>
      </p:graphicFrame>
      <p:sp>
        <p:nvSpPr>
          <p:cNvPr id="4" name="">
            <a:extLst xmlns:a="http://schemas.openxmlformats.org/drawingml/2006/main">
              <a:ext uri="{FF2B5EF4-FFF2-40B4-BE49-F238E27FC236}">
                <a16:creationId xmlns:a16="http://schemas.microsoft.com/office/drawing/2014/main" id="{FC40C760-9E71-48ED-9862-CB5062407D4B}"/>
              </a:ext>
            </a:extLst>
          </p:cNvPr>
          <p:cNvSpPr>
            <a:spLocks xmlns:a="http://schemas.openxmlformats.org/drawingml/2006/main" noGrp="1"/>
          </p:cNvSpPr>
          <p:nvPr/>
        </p:nvSpPr>
        <p:spPr>
          <a:xfrm xmlns:a="http://schemas.openxmlformats.org/drawingml/2006/main">
            <a:off x="609600" y="47625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Saved automated evidence</a:t>
            </a:r>
          </a:p>
        </p:txBody>
      </p:sp>
      <p:sp>
        <p:nvSpPr>
          <p:cNvPr id="5" name="">
            <a:extLst xmlns:a="http://schemas.openxmlformats.org/drawingml/2006/main">
              <a:ext uri="{FF2B5EF4-FFF2-40B4-BE49-F238E27FC236}">
                <a16:creationId xmlns:a16="http://schemas.microsoft.com/office/drawing/2014/main" id="{BDFEB185-137E-4EE6-B886-67ECCC31E916}"/>
              </a:ext>
            </a:extLst>
          </p:cNvPr>
          <p:cNvSpPr>
            <a:spLocks xmlns:a="http://schemas.openxmlformats.org/drawingml/2006/main" noGrp="1"/>
          </p:cNvSpPr>
          <p:nvPr/>
        </p:nvSpPr>
        <p:spPr>
          <a:xfrm xmlns:a="http://schemas.openxmlformats.org/drawingml/2006/main">
            <a:off x="609600" y="523875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B33"/>
                </a:solidFill>
                <a:latin typeface="Arial"/>
                <a:ea typeface="Arial"/>
                <a:cs typeface="Arial"/>
              </a:defRPr>
            </a:pPr>
            <a:r>
              <a:rPr sz="1725" b="0">
                <a:solidFill>
                  <a:srgbClr val="172B33"/>
                </a:solidFill>
                <a:latin typeface="Arial"/>
                <a:ea typeface="Arial"/>
                <a:cs typeface="Arial"/>
              </a:rPr>
              <a:t>PASS 1440px: calendar, filters, navigation, list, retry, themes, overflow.</a:t>
            </a:r>
          </a:p>
          <a:p xmlns:a="http://schemas.openxmlformats.org/drawingml/2006/main">
            <a:pPr>
              <a:defRPr sz="1725" b="0">
                <a:solidFill>
                  <a:srgbClr val="172B33"/>
                </a:solidFill>
                <a:latin typeface="Arial"/>
                <a:ea typeface="Arial"/>
                <a:cs typeface="Arial"/>
              </a:defRPr>
            </a:pPr>
            <a:r>
              <a:rPr sz="1725" b="0">
                <a:solidFill>
                  <a:srgbClr val="172B33"/>
                </a:solidFill>
                <a:latin typeface="Arial"/>
                <a:ea typeface="Arial"/>
                <a:cs typeface="Arial"/>
              </a:rPr>
              <a:t>PASS 390px: calendar, filters, navigation, list, retry, themes, overflow.</a:t>
            </a:r>
          </a:p>
        </p:txBody>
      </p:sp>
    </p:spTree>
    <p:extLst>
      <p:ext uri="{BB962C8B-B14F-4D97-AF65-F5344CB8AC3E}">
        <p14:creationId xmlns:p14="http://schemas.microsoft.com/office/powerpoint/2010/main" val="19033719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FB7CB4-BAC3-4E0F-85CA-8F2E76F09018}"/>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Live demonstration and remaining checks</a:t>
            </a:r>
          </a:p>
        </p:txBody>
      </p:sp>
      <p:sp>
        <p:nvSpPr>
          <p:cNvPr id="2" name="">
            <a:extLst xmlns:a="http://schemas.openxmlformats.org/drawingml/2006/main">
              <a:ext uri="{FF2B5EF4-FFF2-40B4-BE49-F238E27FC236}">
                <a16:creationId xmlns:a16="http://schemas.microsoft.com/office/drawing/2014/main" id="{B9730BA7-74BC-4FDF-8E0F-6139E7F8180F}"/>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9803310B-A357-4EEA-BD2A-445FB3A34AE2}"/>
              </a:ext>
            </a:extLst>
          </p:cNvPr>
          <p:cNvSpPr>
            <a:spLocks xmlns:a="http://schemas.openxmlformats.org/drawingml/2006/main" noGrp="1"/>
          </p:cNvSpPr>
          <p:nvPr/>
        </p:nvSpPr>
        <p:spPr>
          <a:xfrm xmlns:a="http://schemas.openxmlformats.org/drawingml/2006/main">
            <a:off x="609600" y="17145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Live demonstration</a:t>
            </a:r>
          </a:p>
        </p:txBody>
      </p:sp>
      <p:sp>
        <p:nvSpPr>
          <p:cNvPr id="4" name="">
            <a:extLst xmlns:a="http://schemas.openxmlformats.org/drawingml/2006/main">
              <a:ext uri="{FF2B5EF4-FFF2-40B4-BE49-F238E27FC236}">
                <a16:creationId xmlns:a16="http://schemas.microsoft.com/office/drawing/2014/main" id="{85C988F5-F957-4F5A-8503-274596448932}"/>
              </a:ext>
            </a:extLst>
          </p:cNvPr>
          <p:cNvSpPr>
            <a:spLocks xmlns:a="http://schemas.openxmlformats.org/drawingml/2006/main" noGrp="1"/>
          </p:cNvSpPr>
          <p:nvPr/>
        </p:nvSpPr>
        <p:spPr>
          <a:xfrm xmlns:a="http://schemas.openxmlformats.org/drawingml/2006/main">
            <a:off x="609600" y="2333625"/>
            <a:ext cx="5238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1. Register a fictional patient</a:t>
            </a:r>
          </a:p>
          <a:p xmlns:a="http://schemas.openxmlformats.org/drawingml/2006/main">
            <a:r>
              <a:t/>
            </a:r>
          </a:p>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2. Open examination and treatment history</a:t>
            </a:r>
          </a:p>
          <a:p xmlns:a="http://schemas.openxmlformats.org/drawingml/2006/main">
            <a:r>
              <a:t/>
            </a:r>
          </a:p>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3. Review a booking and reminder status</a:t>
            </a:r>
          </a:p>
          <a:p xmlns:a="http://schemas.openxmlformats.org/drawingml/2006/main">
            <a:r>
              <a:t/>
            </a:r>
          </a:p>
          <a:p xmlns:a="http://schemas.openxmlformats.org/drawingml/2006/main">
            <a:pPr>
              <a:defRPr sz="2175" b="0">
                <a:solidFill>
                  <a:srgbClr val="172B33"/>
                </a:solidFill>
                <a:latin typeface="Arial"/>
                <a:ea typeface="Arial"/>
                <a:cs typeface="Arial"/>
              </a:defRPr>
            </a:pPr>
            <a:r>
              <a:rPr sz="2175" b="0">
                <a:solidFill>
                  <a:srgbClr val="172B33"/>
                </a:solidFill>
                <a:latin typeface="Arial"/>
                <a:ea typeface="Arial"/>
                <a:cs typeface="Arial"/>
              </a:rPr>
              <a:t>4. Show a saved automated test log</a:t>
            </a:r>
          </a:p>
        </p:txBody>
      </p:sp>
      <p:sp>
        <p:nvSpPr>
          <p:cNvPr id="5" name="">
            <a:extLst xmlns:a="http://schemas.openxmlformats.org/drawingml/2006/main">
              <a:ext uri="{FF2B5EF4-FFF2-40B4-BE49-F238E27FC236}">
                <a16:creationId xmlns:a16="http://schemas.microsoft.com/office/drawing/2014/main" id="{3D2BCF04-8A28-4ABF-9D75-C07D7D0DAF9A}"/>
              </a:ext>
            </a:extLst>
          </p:cNvPr>
          <p:cNvSpPr>
            <a:spLocks xmlns:a="http://schemas.openxmlformats.org/drawingml/2006/main" noGrp="1"/>
          </p:cNvSpPr>
          <p:nvPr/>
        </p:nvSpPr>
        <p:spPr>
          <a:xfrm xmlns:a="http://schemas.openxmlformats.org/drawingml/2006/main">
            <a:off x="6477000" y="1714500"/>
            <a:ext cx="500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Remaining verification</a:t>
            </a:r>
          </a:p>
        </p:txBody>
      </p:sp>
      <p:sp>
        <p:nvSpPr>
          <p:cNvPr id="6" name="">
            <a:extLst xmlns:a="http://schemas.openxmlformats.org/drawingml/2006/main">
              <a:ext uri="{FF2B5EF4-FFF2-40B4-BE49-F238E27FC236}">
                <a16:creationId xmlns:a16="http://schemas.microsoft.com/office/drawing/2014/main" id="{D0060AF6-3660-4F2C-84E3-0C0452681A77}"/>
              </a:ext>
            </a:extLst>
          </p:cNvPr>
          <p:cNvSpPr>
            <a:spLocks xmlns:a="http://schemas.openxmlformats.org/drawingml/2006/main" noGrp="1"/>
          </p:cNvSpPr>
          <p:nvPr/>
        </p:nvSpPr>
        <p:spPr>
          <a:xfrm xmlns:a="http://schemas.openxmlformats.org/drawingml/2006/main">
            <a:off x="6477000" y="2333625"/>
            <a:ext cx="5048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Dedicated database integration run</a:t>
            </a:r>
          </a:p>
          <a:p xmlns:a="http://schemas.openxmlformats.org/drawingml/2006/main">
            <a:r>
              <a:t/>
            </a:r>
          </a:p>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Clinician acceptance records</a:t>
            </a:r>
          </a:p>
          <a:p xmlns:a="http://schemas.openxmlformats.org/drawingml/2006/main">
            <a:r>
              <a:t/>
            </a:r>
          </a:p>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Controlled inbox delivery and restore check</a:t>
            </a:r>
          </a:p>
          <a:p xmlns:a="http://schemas.openxmlformats.org/drawingml/2006/main">
            <a:r>
              <a:t/>
            </a:r>
          </a:p>
          <a:p xmlns:a="http://schemas.openxmlformats.org/drawingml/2006/main">
            <a:pPr>
              <a:defRPr sz="2100" b="0">
                <a:solidFill>
                  <a:srgbClr val="172B33"/>
                </a:solidFill>
                <a:latin typeface="Arial"/>
                <a:ea typeface="Arial"/>
                <a:cs typeface="Arial"/>
              </a:defRPr>
            </a:pPr>
            <a:r>
              <a:rPr sz="2100" b="0">
                <a:solidFill>
                  <a:srgbClr val="172B33"/>
                </a:solidFill>
                <a:latin typeface="Arial"/>
                <a:ea typeface="Arial"/>
                <a:cs typeface="Arial"/>
              </a:rPr>
              <a:t>Deployment security review</a:t>
            </a:r>
          </a:p>
        </p:txBody>
      </p:sp>
      <p:sp>
        <p:nvSpPr>
          <p:cNvPr id="7" name="">
            <a:extLst xmlns:a="http://schemas.openxmlformats.org/drawingml/2006/main">
              <a:ext uri="{FF2B5EF4-FFF2-40B4-BE49-F238E27FC236}">
                <a16:creationId xmlns:a16="http://schemas.microsoft.com/office/drawing/2014/main" id="{5F64680B-9468-4FAB-9AB3-951D1892E09B}"/>
              </a:ext>
            </a:extLst>
          </p:cNvPr>
          <p:cNvSpPr>
            <a:spLocks xmlns:a="http://schemas.openxmlformats.org/drawingml/2006/main" noGrp="1"/>
          </p:cNvSpPr>
          <p:nvPr/>
        </p:nvSpPr>
        <p:spPr>
          <a:xfrm xmlns:a="http://schemas.openxmlformats.org/drawingml/2006/main">
            <a:off x="609600" y="59531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0"/>
                </a:solidFill>
                <a:latin typeface="Arial"/>
                <a:ea typeface="Arial"/>
                <a:cs typeface="Arial"/>
              </a:defRPr>
            </a:pPr>
            <a:r>
              <a:rPr sz="1875" b="0">
                <a:solidFill>
                  <a:srgbClr val="536870"/>
                </a:solidFill>
                <a:latin typeface="Arial"/>
                <a:ea typeface="Arial"/>
                <a:cs typeface="Arial"/>
              </a:rPr>
              <a:t>User Manual and Developer Guide are available for handover.</a:t>
            </a:r>
          </a:p>
        </p:txBody>
      </p:sp>
    </p:spTree>
    <p:extLst>
      <p:ext uri="{BB962C8B-B14F-4D97-AF65-F5344CB8AC3E}">
        <p14:creationId xmlns:p14="http://schemas.microsoft.com/office/powerpoint/2010/main" val="18309292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CA8E6D-7D1A-4CFA-8427-DE5515C18328}"/>
              </a:ext>
            </a:extLst>
          </p:cNvPr>
          <p:cNvSpPr>
            <a:spLocks xmlns:a="http://schemas.openxmlformats.org/drawingml/2006/main" noGrp="1"/>
          </p:cNvSpPr>
          <p:nvPr/>
        </p:nvSpPr>
        <p:spPr>
          <a:xfrm xmlns:a="http://schemas.openxmlformats.org/drawingml/2006/main">
            <a:off x="609600" y="419100"/>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2B33"/>
                </a:solidFill>
                <a:latin typeface="Arial"/>
                <a:ea typeface="Arial"/>
                <a:cs typeface="Arial"/>
              </a:defRPr>
            </a:pPr>
            <a:r>
              <a:rPr sz="3150" b="1">
                <a:solidFill>
                  <a:srgbClr val="172B33"/>
                </a:solidFill>
                <a:latin typeface="Arial"/>
                <a:ea typeface="Arial"/>
                <a:cs typeface="Arial"/>
              </a:rPr>
              <a:t>Evidence reference for the viva</a:t>
            </a:r>
          </a:p>
        </p:txBody>
      </p:sp>
      <p:sp>
        <p:nvSpPr>
          <p:cNvPr id="2" name="">
            <a:extLst xmlns:a="http://schemas.openxmlformats.org/drawingml/2006/main">
              <a:ext uri="{FF2B5EF4-FFF2-40B4-BE49-F238E27FC236}">
                <a16:creationId xmlns:a16="http://schemas.microsoft.com/office/drawing/2014/main" id="{EF5D4323-3ADE-479D-989A-2B5071FA0C7B}"/>
              </a:ext>
            </a:extLst>
          </p:cNvPr>
          <p:cNvSpPr>
            <a:spLocks xmlns:a="http://schemas.openxmlformats.org/drawingml/2006/main" noGrp="1"/>
          </p:cNvSpPr>
          <p:nvPr/>
        </p:nvSpPr>
        <p:spPr>
          <a:xfrm xmlns:a="http://schemas.openxmlformats.org/drawingml/2006/main">
            <a:off x="11144250" y="64008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870"/>
                </a:solidFill>
                <a:latin typeface="Arial"/>
                <a:ea typeface="Arial"/>
                <a:cs typeface="Arial"/>
              </a:defRPr>
            </a:pPr>
            <a:r>
              <a:rPr sz="1200" b="0">
                <a:solidFill>
                  <a:srgbClr val="536870"/>
                </a:solidFill>
                <a:latin typeface="Arial"/>
                <a:ea typeface="Arial"/>
                <a:cs typeface="Arial"/>
              </a:rPr>
              <a:t>13</a:t>
            </a:r>
          </a:p>
        </p:txBody>
      </p:sp>
      <p:graphicFrame>
        <p:nvGraphicFramePr>
          <p:cNvPr id="8" name=""/>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table">
            <a:tbl>
              <a:tblPr/>
              <a:tblGrid>
                <a:gridCol w="4381500"/>
                <a:gridCol w="6591300"/>
              </a:tblGrid>
              <a:tr h="531813">
                <a:tc>
                  <a:txBody>
                    <a:bodyPr/>
                    <a:lstStyle/>
                    <a:p>
                      <a:r>
                        <a:rPr sz="1800" b="1">
                          <a:solidFill>
                            <a:srgbClr val="FFFFFF"/>
                          </a:solidFill>
                          <a:latin typeface="Arial"/>
                          <a:ea typeface="Arial"/>
                          <a:cs typeface="Arial"/>
                        </a:rPr>
                        <a:t>Evidence</a:t>
                      </a:r>
                    </a:p>
                  </a:txBody>
                  <a:tcPr marL="91440" marR="91440" marT="45720" marB="45720">
                    <a:solidFill>
                      <a:srgbClr val="087F8C"/>
                    </a:solidFill>
                  </a:tcPr>
                </a:tc>
                <a:tc>
                  <a:txBody>
                    <a:bodyPr/>
                    <a:lstStyle/>
                    <a:p>
                      <a:r>
                        <a:rPr sz="1800" b="1">
                          <a:solidFill>
                            <a:srgbClr val="FFFFFF"/>
                          </a:solidFill>
                          <a:latin typeface="Arial"/>
                          <a:ea typeface="Arial"/>
                          <a:cs typeface="Arial"/>
                        </a:rPr>
                        <a:t>Location in the project</a:t>
                      </a:r>
                    </a:p>
                  </a:txBody>
                  <a:tcPr marL="91440" marR="91440" marT="45720" marB="45720">
                    <a:solidFill>
                      <a:srgbClr val="087F8C"/>
                    </a:solidFill>
                  </a:tcPr>
                </a:tc>
              </a:tr>
              <a:tr h="531813">
                <a:tc>
                  <a:txBody>
                    <a:bodyPr/>
                    <a:lstStyle/>
                    <a:p>
                      <a:r>
                        <a:rPr sz="1800" b="0">
                          <a:solidFill>
                            <a:srgbClr val="172B33"/>
                          </a:solidFill>
                          <a:latin typeface="Arial"/>
                          <a:ea typeface="Arial"/>
                          <a:cs typeface="Arial"/>
                        </a:rPr>
                        <a:t>Unit and browser run summaries</a:t>
                      </a:r>
                    </a:p>
                  </a:txBody>
                  <a:tcPr marL="91440" marR="91440" marT="45720" marB="45720">
                    <a:solidFill>
                      <a:srgbClr val="FFFFFF"/>
                    </a:solidFill>
                  </a:tcPr>
                </a:tc>
                <a:tc>
                  <a:txBody>
                    <a:bodyPr/>
                    <a:lstStyle/>
                    <a:p>
                      <a:r>
                        <a:rPr sz="1800" b="0">
                          <a:solidFill>
                            <a:srgbClr val="172B33"/>
                          </a:solidFill>
                          <a:latin typeface="Arial"/>
                          <a:ea typeface="Arial"/>
                          <a:cs typeface="Arial"/>
                        </a:rPr>
                        <a:t>docs/testing/evidence/runs/</a:t>
                      </a:r>
                    </a:p>
                  </a:txBody>
                  <a:tcPr marL="91440" marR="91440" marT="45720" marB="45720">
                    <a:solidFill>
                      <a:srgbClr val="FFFFFF"/>
                    </a:solidFill>
                  </a:tcPr>
                </a:tc>
              </a:tr>
              <a:tr h="531813">
                <a:tc>
                  <a:txBody>
                    <a:bodyPr/>
                    <a:lstStyle/>
                    <a:p>
                      <a:r>
                        <a:rPr sz="1800" b="0">
                          <a:solidFill>
                            <a:srgbClr val="172B33"/>
                          </a:solidFill>
                          <a:latin typeface="Arial"/>
                          <a:ea typeface="Arial"/>
                          <a:cs typeface="Arial"/>
                        </a:rPr>
                        <a:t>Coverage scope and limitations</a:t>
                      </a:r>
                    </a:p>
                  </a:txBody>
                  <a:tcPr marL="91440" marR="91440" marT="45720" marB="45720">
                    <a:solidFill>
                      <a:srgbClr val="EDF4F5"/>
                    </a:solidFill>
                  </a:tcPr>
                </a:tc>
                <a:tc>
                  <a:txBody>
                    <a:bodyPr/>
                    <a:lstStyle/>
                    <a:p>
                      <a:r>
                        <a:rPr sz="1800" b="0">
                          <a:solidFill>
                            <a:srgbClr val="172B33"/>
                          </a:solidFill>
                          <a:latin typeface="Arial"/>
                          <a:ea typeface="Arial"/>
                          <a:cs typeface="Arial"/>
                        </a:rPr>
                        <a:t>docs/testing/results.md</a:t>
                      </a:r>
                    </a:p>
                  </a:txBody>
                  <a:tcPr marL="91440" marR="91440" marT="45720" marB="45720">
                    <a:solidFill>
                      <a:srgbClr val="EDF4F5"/>
                    </a:solidFill>
                  </a:tcPr>
                </a:tc>
              </a:tr>
              <a:tr h="531813">
                <a:tc>
                  <a:txBody>
                    <a:bodyPr/>
                    <a:lstStyle/>
                    <a:p>
                      <a:r>
                        <a:rPr sz="1800" b="0">
                          <a:solidFill>
                            <a:srgbClr val="172B33"/>
                          </a:solidFill>
                          <a:latin typeface="Arial"/>
                          <a:ea typeface="Arial"/>
                          <a:cs typeface="Arial"/>
                        </a:rPr>
                        <a:t>Manual testing records</a:t>
                      </a:r>
                    </a:p>
                  </a:txBody>
                  <a:tcPr marL="91440" marR="91440" marT="45720" marB="45720">
                    <a:solidFill>
                      <a:srgbClr val="FFFFFF"/>
                    </a:solidFill>
                  </a:tcPr>
                </a:tc>
                <a:tc>
                  <a:txBody>
                    <a:bodyPr/>
                    <a:lstStyle/>
                    <a:p>
                      <a:r>
                        <a:rPr sz="1800" b="0">
                          <a:solidFill>
                            <a:srgbClr val="172B33"/>
                          </a:solidFill>
                          <a:latin typeface="Arial"/>
                          <a:ea typeface="Arial"/>
                          <a:cs typeface="Arial"/>
                        </a:rPr>
                        <a:t>docs/testing/manual-test-cases.csv</a:t>
                      </a:r>
                    </a:p>
                  </a:txBody>
                  <a:tcPr marL="91440" marR="91440" marT="45720" marB="45720">
                    <a:solidFill>
                      <a:srgbClr val="FFFFFF"/>
                    </a:solidFill>
                  </a:tcPr>
                </a:tc>
              </a:tr>
              <a:tr h="531813">
                <a:tc>
                  <a:txBody>
                    <a:bodyPr/>
                    <a:lstStyle/>
                    <a:p>
                      <a:r>
                        <a:rPr sz="1800" b="0">
                          <a:solidFill>
                            <a:srgbClr val="172B33"/>
                          </a:solidFill>
                          <a:latin typeface="Arial"/>
                          <a:ea typeface="Arial"/>
                          <a:cs typeface="Arial"/>
                        </a:rPr>
                        <a:t>Bug fixes and regression references</a:t>
                      </a:r>
                    </a:p>
                  </a:txBody>
                  <a:tcPr marL="91440" marR="91440" marT="45720" marB="45720">
                    <a:solidFill>
                      <a:srgbClr val="EDF4F5"/>
                    </a:solidFill>
                  </a:tcPr>
                </a:tc>
                <a:tc>
                  <a:txBody>
                    <a:bodyPr/>
                    <a:lstStyle/>
                    <a:p>
                      <a:r>
                        <a:rPr sz="1800" b="0">
                          <a:solidFill>
                            <a:srgbClr val="172B33"/>
                          </a:solidFill>
                          <a:latin typeface="Arial"/>
                          <a:ea typeface="Arial"/>
                          <a:cs typeface="Arial"/>
                        </a:rPr>
                        <a:t>docs/testing/bug-log.csv</a:t>
                      </a:r>
                    </a:p>
                  </a:txBody>
                  <a:tcPr marL="91440" marR="91440" marT="45720" marB="45720">
                    <a:solidFill>
                      <a:srgbClr val="EDF4F5"/>
                    </a:solidFill>
                  </a:tcPr>
                </a:tc>
              </a:tr>
              <a:tr h="531813">
                <a:tc>
                  <a:txBody>
                    <a:bodyPr/>
                    <a:lstStyle/>
                    <a:p>
                      <a:r>
                        <a:rPr sz="1800" b="0">
                          <a:solidFill>
                            <a:srgbClr val="172B33"/>
                          </a:solidFill>
                          <a:latin typeface="Arial"/>
                          <a:ea typeface="Arial"/>
                          <a:cs typeface="Arial"/>
                        </a:rPr>
                        <a:t>Setup and handover documentation</a:t>
                      </a:r>
                    </a:p>
                  </a:txBody>
                  <a:tcPr marL="91440" marR="91440" marT="45720" marB="45720">
                    <a:solidFill>
                      <a:srgbClr val="FFFFFF"/>
                    </a:solidFill>
                  </a:tcPr>
                </a:tc>
                <a:tc>
                  <a:txBody>
                    <a:bodyPr/>
                    <a:lstStyle/>
                    <a:p>
                      <a:r>
                        <a:rPr sz="1800" b="0">
                          <a:solidFill>
                            <a:srgbClr val="172B33"/>
                          </a:solidFill>
                          <a:latin typeface="Arial"/>
                          <a:ea typeface="Arial"/>
                          <a:cs typeface="Arial"/>
                        </a:rPr>
                        <a:t>docs/deliverables/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78B0EF8-5DAF-48EB-973C-BE1AA60B9A5F}"/>
              </a:ext>
            </a:extLst>
          </p:cNvPr>
          <p:cNvSpPr>
            <a:spLocks xmlns:a="http://schemas.openxmlformats.org/drawingml/2006/main" noGrp="1"/>
          </p:cNvSpPr>
          <p:nvPr/>
        </p:nvSpPr>
        <p:spPr>
          <a:xfrm xmlns:a="http://schemas.openxmlformats.org/drawingml/2006/main">
            <a:off x="609600" y="5334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Coverage statement</a:t>
            </a:r>
          </a:p>
        </p:txBody>
      </p:sp>
      <p:sp>
        <p:nvSpPr>
          <p:cNvPr id="5" name="">
            <a:extLst xmlns:a="http://schemas.openxmlformats.org/drawingml/2006/main">
              <a:ext uri="{FF2B5EF4-FFF2-40B4-BE49-F238E27FC236}">
                <a16:creationId xmlns:a16="http://schemas.microsoft.com/office/drawing/2014/main" id="{D1A860EA-EEA2-487A-AE33-31777AF4212E}"/>
              </a:ext>
            </a:extLst>
          </p:cNvPr>
          <p:cNvSpPr>
            <a:spLocks xmlns:a="http://schemas.openxmlformats.org/drawingml/2006/main" noGrp="1"/>
          </p:cNvSpPr>
          <p:nvPr/>
        </p:nvSpPr>
        <p:spPr>
          <a:xfrm xmlns:a="http://schemas.openxmlformats.org/drawingml/2006/main">
            <a:off x="609600" y="5810250"/>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64B16"/>
                </a:solidFill>
                <a:latin typeface="Arial"/>
                <a:ea typeface="Arial"/>
                <a:cs typeface="Arial"/>
              </a:defRPr>
            </a:pPr>
            <a:r>
              <a:rPr sz="1875" b="0">
                <a:solidFill>
                  <a:srgbClr val="A64B16"/>
                </a:solidFill>
                <a:latin typeface="Arial"/>
                <a:ea typeface="Arial"/>
                <a:cs typeface="Arial"/>
              </a:rPr>
              <a:t>caseHistory.js reached 100% measured coverage. The reminder source is excluded from that report.</a:t>
            </a:r>
          </a:p>
        </p:txBody>
      </p:sp>
    </p:spTree>
    <p:extLst>
      <p:ext uri="{BB962C8B-B14F-4D97-AF65-F5344CB8AC3E}">
        <p14:creationId xmlns:p14="http://schemas.microsoft.com/office/powerpoint/2010/main" val="15991494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2026-09-25T18:46:33.3020000Z</dcterms:created>
  <dcterms:modified xsi:type="dcterms:W3CDTF">2026-09-25T18:46:33.3020000Z</dcterms:modified>
</coreProperties>
</file>